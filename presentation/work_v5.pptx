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97" r:id="rId3"/>
    <p:sldId id="281" r:id="rId4"/>
    <p:sldId id="290" r:id="rId5"/>
    <p:sldId id="293" r:id="rId6"/>
    <p:sldId id="294" r:id="rId7"/>
    <p:sldId id="296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2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240280"/>
            <a:ext cx="5394960" cy="3611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700"/>
              </a:spcAft>
            </a:pPr>
            <a:r>
              <a:rPr sz="1100" b="1">
                <a:solidFill>
                  <a:srgbClr val="5A626A"/>
                </a:solidFill>
                <a:latin typeface="Arial"/>
              </a:rPr>
              <a:t>Problem Statement ID — </a:t>
            </a:r>
            <a:r>
              <a:rPr sz="1150" b="0">
                <a:solidFill>
                  <a:srgbClr val="14181C"/>
                </a:solidFill>
                <a:latin typeface="Arial"/>
              </a:rPr>
              <a:t>26052</a:t>
            </a:r>
            <a:endParaRPr lang="en-US" dirty="0"/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5A626A"/>
                </a:solidFill>
                <a:latin typeface="Arial"/>
              </a:rPr>
              <a:t>Problem Statement Title — </a:t>
            </a:r>
            <a:r>
              <a:rPr sz="1150" b="0">
                <a:solidFill>
                  <a:srgbClr val="14181C"/>
                </a:solidFill>
                <a:latin typeface="Arial"/>
              </a:rPr>
              <a:t>AI/ML-enabled adaptive noise cancellation for stationary, non-stationary and impulsive defence noise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5A626A"/>
                </a:solidFill>
                <a:latin typeface="Arial"/>
              </a:rPr>
              <a:t>Theme — </a:t>
            </a:r>
            <a:r>
              <a:rPr sz="1150" b="0">
                <a:solidFill>
                  <a:srgbClr val="14181C"/>
                </a:solidFill>
                <a:latin typeface="Arial"/>
              </a:rPr>
              <a:t>Miscellaneous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5A626A"/>
                </a:solidFill>
                <a:latin typeface="Arial"/>
              </a:rPr>
              <a:t>PS Category — </a:t>
            </a:r>
            <a:r>
              <a:rPr sz="1150" b="0">
                <a:solidFill>
                  <a:srgbClr val="14181C"/>
                </a:solidFill>
                <a:latin typeface="Arial"/>
              </a:rPr>
              <a:t>Hardware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5A626A"/>
                </a:solidFill>
                <a:latin typeface="Arial"/>
              </a:rPr>
              <a:t>Organisation — </a:t>
            </a:r>
            <a:r>
              <a:rPr sz="1150" b="0">
                <a:solidFill>
                  <a:srgbClr val="14181C"/>
                </a:solidFill>
                <a:latin typeface="Arial"/>
              </a:rPr>
              <a:t>DRDO  ·  Department of Defence Production / IDEX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5A626A"/>
                </a:solidFill>
                <a:latin typeface="Arial"/>
              </a:rPr>
              <a:t>Team ID — </a:t>
            </a:r>
            <a:r>
              <a:rPr sz="1150" b="0">
                <a:solidFill>
                  <a:srgbClr val="14181C"/>
                </a:solidFill>
                <a:latin typeface="Arial"/>
              </a:rPr>
              <a:t>HW2026106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5A626A"/>
                </a:solidFill>
                <a:latin typeface="Arial"/>
              </a:rPr>
              <a:t>Team Name — </a:t>
            </a:r>
            <a:r>
              <a:rPr sz="1150" b="1">
                <a:solidFill>
                  <a:srgbClr val="14181C"/>
                </a:solidFill>
                <a:latin typeface="Arial"/>
              </a:rPr>
              <a:t>ZEIT v.1.0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5A626A"/>
                </a:solidFill>
                <a:latin typeface="Arial"/>
              </a:rPr>
              <a:t>Mentor — </a:t>
            </a:r>
            <a:r>
              <a:rPr sz="1150" b="0">
                <a:solidFill>
                  <a:srgbClr val="14181C"/>
                </a:solidFill>
                <a:latin typeface="Arial"/>
              </a:rPr>
              <a:t>Dr. Swati Singal — Assistant Professor, CSE / SSCSE, Sharda University, Greater Noida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29184" y="5989320"/>
            <a:ext cx="53949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C2410C"/>
                </a:solidFill>
                <a:latin typeface="Arial"/>
              </a:rPr>
              <a:t>Two-lane impulse-adaptive noise cancellation for defence communications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2648" y="201168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4181C"/>
                </a:solidFill>
                <a:latin typeface="Arial"/>
              </a:rPr>
              <a:t>MENTOR APPROVAL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1078992"/>
            <a:ext cx="11064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C2410C"/>
                </a:solidFill>
                <a:latin typeface="Arial"/>
              </a:rPr>
              <a:t>GUIDANCE ACCEPTED FOR PROBLEM STATEMENT 26052  ·  INTERNAL SMART INDIA HACKATHON 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1389888"/>
            <a:ext cx="11064240" cy="713232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5528" y="1499616"/>
            <a:ext cx="4206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4181C"/>
                </a:solidFill>
                <a:latin typeface="Arial"/>
              </a:rPr>
              <a:t>Dr. Swati Singal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1819656"/>
            <a:ext cx="5120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A626A"/>
                </a:solidFill>
                <a:latin typeface="Arial"/>
              </a:rPr>
              <a:t>Assistant Professor, Computer Science — SSCSE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517904"/>
            <a:ext cx="5212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5A626A"/>
                </a:solidFill>
                <a:latin typeface="Arial"/>
              </a:rPr>
              <a:t>Sharda University, Greater Noida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819656"/>
            <a:ext cx="5212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AEB6BD"/>
                </a:solidFill>
                <a:latin typeface="Arial"/>
              </a:rPr>
              <a:t>Mentor — Team ZEIT v.1.0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97380" y="2221992"/>
            <a:ext cx="8394192" cy="37068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AEB6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pic>
        <p:nvPicPr>
          <p:cNvPr id="22" name="Picture 21" descr="mentor-approval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9676" y="2304288"/>
            <a:ext cx="8229600" cy="35422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979676" y="5992832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AEB6BD"/>
                </a:solidFill>
                <a:latin typeface="Arial"/>
              </a:rPr>
              <a:t>Accepted by email in reply to “Request to Mentor Team ZEIT v.1.0 for SIH 2026 — PS 26052”</a:t>
            </a:r>
          </a:p>
        </p:txBody>
      </p:sp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8686800" cy="1143000"/>
          </a:xfrm>
        </p:spPr>
        <p:txBody>
          <a:bodyPr/>
          <a:lstStyle/>
          <a:p>
            <a:pPr algn="l" eaLnBrk="1" hangingPunct="1"/>
            <a:r>
              <a:rPr lang="en-US" sz="2500" b="1" dirty="0">
                <a:solidFill>
                  <a:srgbClr val="14181C"/>
                </a:solidFill>
                <a:latin typeface="Arial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ZEIT — Two-Lane Impulse-Adaptive Noise Cancellation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502920" y="1097280"/>
            <a:ext cx="11155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AEB6BD"/>
                </a:solidFill>
                <a:latin typeface="Arial"/>
              </a:rPr>
              <a:t>PROPOSED SOLUTION (DESCRIBE YOUR IDEA/SOLUTION/PROTOTYPE)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502920" y="1335024"/>
            <a:ext cx="7360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C2410C"/>
                </a:solidFill>
                <a:latin typeface="Arial"/>
              </a:rPr>
              <a:t>DETAILED EXPLANATION OF THE PROPOSED SOLUTION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2148840" y="1572768"/>
            <a:ext cx="5715000" cy="859536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9525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5365" name="TextBox 15364"/>
          <p:cNvSpPr txBox="1"/>
          <p:nvPr/>
        </p:nvSpPr>
        <p:spPr>
          <a:xfrm>
            <a:off x="2258568" y="1636776"/>
            <a:ext cx="549554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C2410C"/>
                </a:solidFill>
                <a:latin typeface="Arial"/>
              </a:rPr>
              <a:t>LANE A  ·  hearing protection  ·  under 1 ms  ·  FxLMS, no neural network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2148840" y="2688336"/>
            <a:ext cx="5715000" cy="859536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 w="9525">
            <a:solidFill>
              <a:srgbClr val="141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5367" name="TextBox 15366"/>
          <p:cNvSpPr txBox="1"/>
          <p:nvPr/>
        </p:nvSpPr>
        <p:spPr>
          <a:xfrm>
            <a:off x="2258568" y="2752344"/>
            <a:ext cx="549554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14181C"/>
                </a:solidFill>
                <a:latin typeface="Arial"/>
              </a:rPr>
              <a:t>LANE B  ·  transmit to radio  ·  25.3 ms  ·  eleven blocks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502920" y="1828800"/>
            <a:ext cx="1325880" cy="438912"/>
          </a:xfrm>
          <a:prstGeom prst="roundRect">
            <a:avLst>
              <a:gd name="adj" fmla="val 14000"/>
            </a:avLst>
          </a:prstGeom>
          <a:solidFill>
            <a:srgbClr val="F6E7DD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4181C"/>
                </a:solidFill>
                <a:latin typeface="Arial"/>
              </a:rPr>
              <a:t>Mic 3 · error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502920" y="2386584"/>
            <a:ext cx="1325880" cy="438912"/>
          </a:xfrm>
          <a:prstGeom prst="roundRect">
            <a:avLst>
              <a:gd name="adj" fmla="val 14000"/>
            </a:avLst>
          </a:prstGeom>
          <a:solidFill>
            <a:srgbClr val="ECEEF0"/>
          </a:solidFill>
          <a:ln w="12700">
            <a:solidFill>
              <a:srgbClr val="5A6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4181C"/>
                </a:solidFill>
                <a:latin typeface="Arial"/>
              </a:rPr>
              <a:t>Mic 2 · reference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502920" y="2944368"/>
            <a:ext cx="1325880" cy="438912"/>
          </a:xfrm>
          <a:prstGeom prst="roundRect">
            <a:avLst>
              <a:gd name="adj" fmla="val 14000"/>
            </a:avLst>
          </a:prstGeom>
          <a:solidFill>
            <a:srgbClr val="ECEEF0"/>
          </a:solidFill>
          <a:ln w="12700">
            <a:solidFill>
              <a:srgbClr val="141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4181C"/>
                </a:solidFill>
                <a:latin typeface="Arial"/>
              </a:rPr>
              <a:t>Mic 1 · voice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2331720" y="1828800"/>
            <a:ext cx="1572768" cy="4389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4181C"/>
                </a:solidFill>
                <a:latin typeface="Arial"/>
              </a:rPr>
              <a:t>FxLMS filter</a:t>
            </a:r>
          </a:p>
        </p:txBody>
      </p:sp>
      <p:sp>
        <p:nvSpPr>
          <p:cNvPr id="15372" name="Rounded Rectangle 15371"/>
          <p:cNvSpPr/>
          <p:nvPr/>
        </p:nvSpPr>
        <p:spPr>
          <a:xfrm>
            <a:off x="4160520" y="1828800"/>
            <a:ext cx="1572768" cy="4389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4181C"/>
                </a:solidFill>
                <a:latin typeface="Arial"/>
              </a:rPr>
              <a:t>Anti-noise driver</a:t>
            </a:r>
          </a:p>
        </p:txBody>
      </p:sp>
      <p:sp>
        <p:nvSpPr>
          <p:cNvPr id="15373" name="Rounded Rectangle 15372"/>
          <p:cNvSpPr/>
          <p:nvPr/>
        </p:nvSpPr>
        <p:spPr>
          <a:xfrm>
            <a:off x="5989320" y="1828800"/>
            <a:ext cx="1572768" cy="4389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4181C"/>
                </a:solidFill>
                <a:latin typeface="Arial"/>
              </a:rPr>
              <a:t>The ear</a:t>
            </a:r>
          </a:p>
        </p:txBody>
      </p:sp>
      <p:sp>
        <p:nvSpPr>
          <p:cNvPr id="15374" name="Rounded Rectangle 15373"/>
          <p:cNvSpPr/>
          <p:nvPr/>
        </p:nvSpPr>
        <p:spPr>
          <a:xfrm>
            <a:off x="2331720" y="2944368"/>
            <a:ext cx="1572768" cy="4389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141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4181C"/>
                </a:solidFill>
                <a:latin typeface="Arial"/>
              </a:rPr>
              <a:t>Engine · 11 blocks</a:t>
            </a:r>
          </a:p>
        </p:txBody>
      </p:sp>
      <p:sp>
        <p:nvSpPr>
          <p:cNvPr id="15375" name="Rounded Rectangle 15374"/>
          <p:cNvSpPr/>
          <p:nvPr/>
        </p:nvSpPr>
        <p:spPr>
          <a:xfrm>
            <a:off x="4160520" y="2944368"/>
            <a:ext cx="1572768" cy="4389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141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4181C"/>
                </a:solidFill>
                <a:latin typeface="Arial"/>
              </a:rPr>
              <a:t>Vocoder · MELPe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5989320" y="2944368"/>
            <a:ext cx="1572768" cy="438912"/>
          </a:xfrm>
          <a:prstGeom prst="roundRect">
            <a:avLst>
              <a:gd name="adj" fmla="val 14000"/>
            </a:avLst>
          </a:prstGeom>
          <a:solidFill>
            <a:srgbClr val="ECEEF0"/>
          </a:solidFill>
          <a:ln w="12700">
            <a:solidFill>
              <a:srgbClr val="141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4181C"/>
                </a:solidFill>
                <a:latin typeface="Arial"/>
              </a:rPr>
              <a:t>Radio link</a:t>
            </a:r>
          </a:p>
        </p:txBody>
      </p:sp>
      <p:cxnSp>
        <p:nvCxnSpPr>
          <p:cNvPr id="15377" name="Connector 15376"/>
          <p:cNvCxnSpPr/>
          <p:nvPr/>
        </p:nvCxnSpPr>
        <p:spPr>
          <a:xfrm>
            <a:off x="1828800" y="2048256"/>
            <a:ext cx="502920" cy="0"/>
          </a:xfrm>
          <a:prstGeom prst="line">
            <a:avLst/>
          </a:prstGeom>
          <a:ln w="19050">
            <a:solidFill>
              <a:srgbClr val="C241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8" name="Isosceles Triangle 15377"/>
          <p:cNvSpPr/>
          <p:nvPr/>
        </p:nvSpPr>
        <p:spPr>
          <a:xfrm rot="5400000">
            <a:off x="2272284" y="1988820"/>
            <a:ext cx="118872" cy="118872"/>
          </a:xfrm>
          <a:prstGeom prst="triangl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379" name="Connector 15378"/>
          <p:cNvCxnSpPr/>
          <p:nvPr/>
        </p:nvCxnSpPr>
        <p:spPr>
          <a:xfrm>
            <a:off x="1828800" y="3163824"/>
            <a:ext cx="502920" cy="0"/>
          </a:xfrm>
          <a:prstGeom prst="line">
            <a:avLst/>
          </a:prstGeom>
          <a:ln w="19050">
            <a:solidFill>
              <a:srgbClr val="1418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80" name="Isosceles Triangle 15379"/>
          <p:cNvSpPr/>
          <p:nvPr/>
        </p:nvSpPr>
        <p:spPr>
          <a:xfrm rot="5400000">
            <a:off x="2272284" y="3104388"/>
            <a:ext cx="118872" cy="118872"/>
          </a:xfrm>
          <a:prstGeom prst="triangle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381" name="Connector 15380"/>
          <p:cNvCxnSpPr/>
          <p:nvPr/>
        </p:nvCxnSpPr>
        <p:spPr>
          <a:xfrm>
            <a:off x="1828800" y="2606040"/>
            <a:ext cx="201168" cy="0"/>
          </a:xfrm>
          <a:prstGeom prst="line">
            <a:avLst/>
          </a:prstGeom>
          <a:ln w="19050">
            <a:solidFill>
              <a:srgbClr val="5A6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82" name="Connector 15381"/>
          <p:cNvCxnSpPr/>
          <p:nvPr/>
        </p:nvCxnSpPr>
        <p:spPr>
          <a:xfrm flipV="1">
            <a:off x="2029968" y="2139696"/>
            <a:ext cx="0" cy="466344"/>
          </a:xfrm>
          <a:prstGeom prst="line">
            <a:avLst/>
          </a:prstGeom>
          <a:ln w="19050">
            <a:solidFill>
              <a:srgbClr val="5A6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83" name="Connector 15382"/>
          <p:cNvCxnSpPr/>
          <p:nvPr/>
        </p:nvCxnSpPr>
        <p:spPr>
          <a:xfrm>
            <a:off x="2029968" y="2139696"/>
            <a:ext cx="301752" cy="0"/>
          </a:xfrm>
          <a:prstGeom prst="line">
            <a:avLst/>
          </a:prstGeom>
          <a:ln w="19050">
            <a:solidFill>
              <a:srgbClr val="5A6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84" name="Isosceles Triangle 15383"/>
          <p:cNvSpPr/>
          <p:nvPr/>
        </p:nvSpPr>
        <p:spPr>
          <a:xfrm rot="5400000">
            <a:off x="2272284" y="2080260"/>
            <a:ext cx="118872" cy="118872"/>
          </a:xfrm>
          <a:prstGeom prst="triangle">
            <a:avLst/>
          </a:prstGeom>
          <a:solidFill>
            <a:srgbClr val="5A6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385" name="Connector 15384"/>
          <p:cNvCxnSpPr/>
          <p:nvPr/>
        </p:nvCxnSpPr>
        <p:spPr>
          <a:xfrm>
            <a:off x="2029968" y="2606040"/>
            <a:ext cx="0" cy="466344"/>
          </a:xfrm>
          <a:prstGeom prst="line">
            <a:avLst/>
          </a:prstGeom>
          <a:ln w="19050">
            <a:solidFill>
              <a:srgbClr val="5A6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86" name="Connector 15385"/>
          <p:cNvCxnSpPr/>
          <p:nvPr/>
        </p:nvCxnSpPr>
        <p:spPr>
          <a:xfrm>
            <a:off x="2029968" y="3072384"/>
            <a:ext cx="301752" cy="0"/>
          </a:xfrm>
          <a:prstGeom prst="line">
            <a:avLst/>
          </a:prstGeom>
          <a:ln w="19050">
            <a:solidFill>
              <a:srgbClr val="5A6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87" name="Isosceles Triangle 15386"/>
          <p:cNvSpPr/>
          <p:nvPr/>
        </p:nvSpPr>
        <p:spPr>
          <a:xfrm rot="5400000">
            <a:off x="2272284" y="3012948"/>
            <a:ext cx="118872" cy="118872"/>
          </a:xfrm>
          <a:prstGeom prst="triangle">
            <a:avLst/>
          </a:prstGeom>
          <a:solidFill>
            <a:srgbClr val="5A6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388" name="Connector 15387"/>
          <p:cNvCxnSpPr/>
          <p:nvPr/>
        </p:nvCxnSpPr>
        <p:spPr>
          <a:xfrm>
            <a:off x="3904488" y="2048256"/>
            <a:ext cx="256032" cy="0"/>
          </a:xfrm>
          <a:prstGeom prst="line">
            <a:avLst/>
          </a:prstGeom>
          <a:ln w="19050">
            <a:solidFill>
              <a:srgbClr val="C241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89" name="Isosceles Triangle 15388"/>
          <p:cNvSpPr/>
          <p:nvPr/>
        </p:nvSpPr>
        <p:spPr>
          <a:xfrm rot="5400000">
            <a:off x="4101084" y="1988820"/>
            <a:ext cx="118872" cy="118872"/>
          </a:xfrm>
          <a:prstGeom prst="triangl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390" name="Connector 15389"/>
          <p:cNvCxnSpPr/>
          <p:nvPr/>
        </p:nvCxnSpPr>
        <p:spPr>
          <a:xfrm>
            <a:off x="3904488" y="3163824"/>
            <a:ext cx="256032" cy="0"/>
          </a:xfrm>
          <a:prstGeom prst="line">
            <a:avLst/>
          </a:prstGeom>
          <a:ln w="19050">
            <a:solidFill>
              <a:srgbClr val="1418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1" name="Isosceles Triangle 15390"/>
          <p:cNvSpPr/>
          <p:nvPr/>
        </p:nvSpPr>
        <p:spPr>
          <a:xfrm rot="5400000">
            <a:off x="4101084" y="3104388"/>
            <a:ext cx="118872" cy="118872"/>
          </a:xfrm>
          <a:prstGeom prst="triangle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392" name="Connector 15391"/>
          <p:cNvCxnSpPr/>
          <p:nvPr/>
        </p:nvCxnSpPr>
        <p:spPr>
          <a:xfrm>
            <a:off x="5733288" y="2048256"/>
            <a:ext cx="256032" cy="0"/>
          </a:xfrm>
          <a:prstGeom prst="line">
            <a:avLst/>
          </a:prstGeom>
          <a:ln w="19050">
            <a:solidFill>
              <a:srgbClr val="C241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3" name="Isosceles Triangle 15392"/>
          <p:cNvSpPr/>
          <p:nvPr/>
        </p:nvSpPr>
        <p:spPr>
          <a:xfrm rot="5400000">
            <a:off x="5929884" y="1988820"/>
            <a:ext cx="118872" cy="118872"/>
          </a:xfrm>
          <a:prstGeom prst="triangl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394" name="Connector 15393"/>
          <p:cNvCxnSpPr/>
          <p:nvPr/>
        </p:nvCxnSpPr>
        <p:spPr>
          <a:xfrm>
            <a:off x="5733288" y="3163824"/>
            <a:ext cx="256032" cy="0"/>
          </a:xfrm>
          <a:prstGeom prst="line">
            <a:avLst/>
          </a:prstGeom>
          <a:ln w="19050">
            <a:solidFill>
              <a:srgbClr val="1418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5" name="Isosceles Triangle 15394"/>
          <p:cNvSpPr/>
          <p:nvPr/>
        </p:nvSpPr>
        <p:spPr>
          <a:xfrm rot="5400000">
            <a:off x="5929884" y="3104388"/>
            <a:ext cx="118872" cy="118872"/>
          </a:xfrm>
          <a:prstGeom prst="triangle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396" name="Connector 15395"/>
          <p:cNvCxnSpPr/>
          <p:nvPr/>
        </p:nvCxnSpPr>
        <p:spPr>
          <a:xfrm>
            <a:off x="6775704" y="2267712"/>
            <a:ext cx="0" cy="237744"/>
          </a:xfrm>
          <a:prstGeom prst="line">
            <a:avLst/>
          </a:prstGeom>
          <a:ln w="19050">
            <a:solidFill>
              <a:srgbClr val="C241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97" name="Connector 15396"/>
          <p:cNvCxnSpPr/>
          <p:nvPr/>
        </p:nvCxnSpPr>
        <p:spPr>
          <a:xfrm flipH="1">
            <a:off x="3118104" y="2505456"/>
            <a:ext cx="3657600" cy="0"/>
          </a:xfrm>
          <a:prstGeom prst="line">
            <a:avLst/>
          </a:prstGeom>
          <a:ln w="19050">
            <a:solidFill>
              <a:srgbClr val="C241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98" name="Connector 15397"/>
          <p:cNvCxnSpPr/>
          <p:nvPr/>
        </p:nvCxnSpPr>
        <p:spPr>
          <a:xfrm flipV="1">
            <a:off x="3118104" y="2267712"/>
            <a:ext cx="0" cy="237744"/>
          </a:xfrm>
          <a:prstGeom prst="line">
            <a:avLst/>
          </a:prstGeom>
          <a:ln w="19050">
            <a:solidFill>
              <a:srgbClr val="C241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9" name="Isosceles Triangle 15398"/>
          <p:cNvSpPr/>
          <p:nvPr/>
        </p:nvSpPr>
        <p:spPr>
          <a:xfrm>
            <a:off x="3058668" y="2208276"/>
            <a:ext cx="118872" cy="118872"/>
          </a:xfrm>
          <a:prstGeom prst="triangl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00" name="TextBox 15399"/>
          <p:cNvSpPr txBox="1"/>
          <p:nvPr/>
        </p:nvSpPr>
        <p:spPr>
          <a:xfrm>
            <a:off x="3566160" y="2523744"/>
            <a:ext cx="2834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 i="0">
                <a:solidFill>
                  <a:srgbClr val="C2410C"/>
                </a:solidFill>
                <a:latin typeface="Arial"/>
              </a:rPr>
              <a:t>error signal — what still reaches the ear</a:t>
            </a:r>
          </a:p>
        </p:txBody>
      </p:sp>
      <p:sp>
        <p:nvSpPr>
          <p:cNvPr id="15401" name="TextBox 15400"/>
          <p:cNvSpPr txBox="1"/>
          <p:nvPr/>
        </p:nvSpPr>
        <p:spPr>
          <a:xfrm>
            <a:off x="502920" y="3639312"/>
            <a:ext cx="7360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C2410C"/>
                </a:solidFill>
                <a:latin typeface="Arial"/>
              </a:rPr>
              <a:t>HOW IT ADDRESSES THE PROBLEM</a:t>
            </a:r>
          </a:p>
        </p:txBody>
      </p:sp>
      <p:sp>
        <p:nvSpPr>
          <p:cNvPr id="15402" name="Rounded Rectangle 15401"/>
          <p:cNvSpPr/>
          <p:nvPr/>
        </p:nvSpPr>
        <p:spPr>
          <a:xfrm>
            <a:off x="502920" y="3858768"/>
            <a:ext cx="7360920" cy="493776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5403" name="TextBox 15402"/>
          <p:cNvSpPr txBox="1"/>
          <p:nvPr/>
        </p:nvSpPr>
        <p:spPr>
          <a:xfrm>
            <a:off x="630936" y="3931920"/>
            <a:ext cx="26517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4181C"/>
                </a:solidFill>
                <a:latin typeface="Arial"/>
              </a:rPr>
              <a:t>Impulsive noise — gunshots, artillery</a:t>
            </a:r>
          </a:p>
        </p:txBody>
      </p:sp>
      <p:sp>
        <p:nvSpPr>
          <p:cNvPr id="15404" name="TextBox 15403"/>
          <p:cNvSpPr txBox="1"/>
          <p:nvPr/>
        </p:nvSpPr>
        <p:spPr>
          <a:xfrm>
            <a:off x="3337560" y="3904488"/>
            <a:ext cx="4361688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50" b="0" i="0">
                <a:solidFill>
                  <a:srgbClr val="5A626A"/>
                </a:solidFill>
                <a:latin typeface="Arial"/>
              </a:rPr>
              <a:t>Detect-and-react transient path; α-stable augmentation trained through the clipping</a:t>
            </a:r>
          </a:p>
        </p:txBody>
      </p:sp>
      <p:sp>
        <p:nvSpPr>
          <p:cNvPr id="15405" name="Rounded Rectangle 15404"/>
          <p:cNvSpPr/>
          <p:nvPr/>
        </p:nvSpPr>
        <p:spPr>
          <a:xfrm>
            <a:off x="502920" y="4407408"/>
            <a:ext cx="7360920" cy="493776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5406" name="TextBox 15405"/>
          <p:cNvSpPr txBox="1"/>
          <p:nvPr/>
        </p:nvSpPr>
        <p:spPr>
          <a:xfrm>
            <a:off x="630936" y="4480560"/>
            <a:ext cx="26517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4181C"/>
                </a:solidFill>
                <a:latin typeface="Arial"/>
              </a:rPr>
              <a:t>Adaptive</a:t>
            </a:r>
          </a:p>
        </p:txBody>
      </p:sp>
      <p:sp>
        <p:nvSpPr>
          <p:cNvPr id="15407" name="TextBox 15406"/>
          <p:cNvSpPr txBox="1"/>
          <p:nvPr/>
        </p:nvSpPr>
        <p:spPr>
          <a:xfrm>
            <a:off x="3337560" y="4453128"/>
            <a:ext cx="4361688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50" b="0" i="0">
                <a:solidFill>
                  <a:srgbClr val="5A626A"/>
                </a:solidFill>
                <a:latin typeface="Arial"/>
              </a:rPr>
              <a:t>Live kurtosis classifier retunes γ and β every frame, not tuned once offline</a:t>
            </a:r>
          </a:p>
        </p:txBody>
      </p:sp>
      <p:sp>
        <p:nvSpPr>
          <p:cNvPr id="15408" name="Rounded Rectangle 15407"/>
          <p:cNvSpPr/>
          <p:nvPr/>
        </p:nvSpPr>
        <p:spPr>
          <a:xfrm>
            <a:off x="502920" y="4956048"/>
            <a:ext cx="7360920" cy="493776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5409" name="TextBox 15408"/>
          <p:cNvSpPr txBox="1"/>
          <p:nvPr/>
        </p:nvSpPr>
        <p:spPr>
          <a:xfrm>
            <a:off x="630936" y="5029200"/>
            <a:ext cx="26517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4181C"/>
                </a:solidFill>
                <a:latin typeface="Arial"/>
              </a:rPr>
              <a:t>High speech intelligibility</a:t>
            </a:r>
          </a:p>
        </p:txBody>
      </p:sp>
      <p:sp>
        <p:nvSpPr>
          <p:cNvPr id="15410" name="TextBox 15409"/>
          <p:cNvSpPr txBox="1"/>
          <p:nvPr/>
        </p:nvSpPr>
        <p:spPr>
          <a:xfrm>
            <a:off x="3337560" y="5001768"/>
            <a:ext cx="4361688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50" b="0" i="0">
                <a:solidFill>
                  <a:srgbClr val="5A626A"/>
                </a:solidFill>
                <a:latin typeface="Arial"/>
              </a:rPr>
              <a:t>Voice guard, plus DNSMOS SIG reported separately so over-suppression is visible</a:t>
            </a:r>
          </a:p>
        </p:txBody>
      </p:sp>
      <p:sp>
        <p:nvSpPr>
          <p:cNvPr id="15411" name="Rounded Rectangle 15410"/>
          <p:cNvSpPr/>
          <p:nvPr/>
        </p:nvSpPr>
        <p:spPr>
          <a:xfrm>
            <a:off x="502920" y="5504688"/>
            <a:ext cx="7360920" cy="493776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5412" name="TextBox 15411"/>
          <p:cNvSpPr txBox="1"/>
          <p:nvPr/>
        </p:nvSpPr>
        <p:spPr>
          <a:xfrm>
            <a:off x="630936" y="5577840"/>
            <a:ext cx="26517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4181C"/>
                </a:solidFill>
                <a:latin typeface="Arial"/>
              </a:rPr>
              <a:t>Real-time on embedded hardware</a:t>
            </a:r>
          </a:p>
        </p:txBody>
      </p:sp>
      <p:sp>
        <p:nvSpPr>
          <p:cNvPr id="15413" name="TextBox 15412"/>
          <p:cNvSpPr txBox="1"/>
          <p:nvPr/>
        </p:nvSpPr>
        <p:spPr>
          <a:xfrm>
            <a:off x="3337560" y="5550408"/>
            <a:ext cx="4361688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50" b="0" i="0">
                <a:solidFill>
                  <a:srgbClr val="5A626A"/>
                </a:solidFill>
                <a:latin typeface="Arial"/>
              </a:rPr>
              <a:t>23.7 K parameters at 39.6 MMAC/s — a Raspberry Pi 5, not a Jetson</a:t>
            </a:r>
          </a:p>
        </p:txBody>
      </p:sp>
      <p:sp>
        <p:nvSpPr>
          <p:cNvPr id="15414" name="TextBox 15413"/>
          <p:cNvSpPr txBox="1"/>
          <p:nvPr/>
        </p:nvSpPr>
        <p:spPr>
          <a:xfrm>
            <a:off x="8156448" y="1335024"/>
            <a:ext cx="352958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C2410C"/>
                </a:solidFill>
                <a:latin typeface="Arial"/>
              </a:rPr>
              <a:t>INNOVATION AND UNIQUENESS OF THE SOLUTION</a:t>
            </a:r>
          </a:p>
        </p:txBody>
      </p:sp>
      <p:sp>
        <p:nvSpPr>
          <p:cNvPr id="15415" name="Rounded Rectangle 15414"/>
          <p:cNvSpPr/>
          <p:nvPr/>
        </p:nvSpPr>
        <p:spPr>
          <a:xfrm>
            <a:off x="8156448" y="1554480"/>
            <a:ext cx="3529584" cy="8778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AEB6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5416" name="Oval 15415"/>
          <p:cNvSpPr/>
          <p:nvPr/>
        </p:nvSpPr>
        <p:spPr>
          <a:xfrm>
            <a:off x="8275320" y="1673352"/>
            <a:ext cx="274320" cy="274320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5417" name="TextBox 15416"/>
          <p:cNvSpPr txBox="1"/>
          <p:nvPr/>
        </p:nvSpPr>
        <p:spPr>
          <a:xfrm>
            <a:off x="8275320" y="1709928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418" name="TextBox 15417"/>
          <p:cNvSpPr txBox="1"/>
          <p:nvPr/>
        </p:nvSpPr>
        <p:spPr>
          <a:xfrm>
            <a:off x="8631936" y="1673352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4181C"/>
                </a:solidFill>
                <a:latin typeface="Arial"/>
              </a:rPr>
              <a:t>Two lanes, not one</a:t>
            </a:r>
          </a:p>
        </p:txBody>
      </p:sp>
      <p:sp>
        <p:nvSpPr>
          <p:cNvPr id="15419" name="TextBox 15418"/>
          <p:cNvSpPr txBox="1"/>
          <p:nvPr/>
        </p:nvSpPr>
        <p:spPr>
          <a:xfrm>
            <a:off x="8631936" y="1892808"/>
            <a:ext cx="292608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00" b="0" i="0">
                <a:solidFill>
                  <a:srgbClr val="5A626A"/>
                </a:solidFill>
                <a:latin typeface="Arial"/>
              </a:rPr>
              <a:t>Protection needs under a millisecond; transmit tolerates 25 ms. Fusing them makes both impossible.</a:t>
            </a:r>
          </a:p>
        </p:txBody>
      </p:sp>
      <p:sp>
        <p:nvSpPr>
          <p:cNvPr id="15420" name="Rounded Rectangle 15419"/>
          <p:cNvSpPr/>
          <p:nvPr/>
        </p:nvSpPr>
        <p:spPr>
          <a:xfrm>
            <a:off x="8156448" y="2487168"/>
            <a:ext cx="3529584" cy="8778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AEB6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5421" name="Oval 15420"/>
          <p:cNvSpPr/>
          <p:nvPr/>
        </p:nvSpPr>
        <p:spPr>
          <a:xfrm>
            <a:off x="8275320" y="2606040"/>
            <a:ext cx="274320" cy="274320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5422" name="TextBox 15421"/>
          <p:cNvSpPr txBox="1"/>
          <p:nvPr/>
        </p:nvSpPr>
        <p:spPr>
          <a:xfrm>
            <a:off x="8275320" y="2642616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423" name="TextBox 15422"/>
          <p:cNvSpPr txBox="1"/>
          <p:nvPr/>
        </p:nvSpPr>
        <p:spPr>
          <a:xfrm>
            <a:off x="8631936" y="2606040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4181C"/>
                </a:solidFill>
                <a:latin typeface="Arial"/>
              </a:rPr>
              <a:t>Detect, do not predict</a:t>
            </a:r>
          </a:p>
        </p:txBody>
      </p:sp>
      <p:sp>
        <p:nvSpPr>
          <p:cNvPr id="15424" name="TextBox 15423"/>
          <p:cNvSpPr txBox="1"/>
          <p:nvPr/>
        </p:nvSpPr>
        <p:spPr>
          <a:xfrm>
            <a:off x="8631936" y="2825496"/>
            <a:ext cx="292608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00" b="0" i="0">
                <a:solidFill>
                  <a:srgbClr val="5A626A"/>
                </a:solidFill>
                <a:latin typeface="Arial"/>
              </a:rPr>
              <a:t>Published deep ANC buys latency by predicting noise. A gunshot is unpredictable by definition.</a:t>
            </a:r>
          </a:p>
        </p:txBody>
      </p:sp>
      <p:sp>
        <p:nvSpPr>
          <p:cNvPr id="15425" name="Rounded Rectangle 15424"/>
          <p:cNvSpPr/>
          <p:nvPr/>
        </p:nvSpPr>
        <p:spPr>
          <a:xfrm>
            <a:off x="8156448" y="3419856"/>
            <a:ext cx="3529584" cy="8778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AEB6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5426" name="Oval 15425"/>
          <p:cNvSpPr/>
          <p:nvPr/>
        </p:nvSpPr>
        <p:spPr>
          <a:xfrm>
            <a:off x="8275320" y="3538728"/>
            <a:ext cx="274320" cy="274320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5427" name="TextBox 15426"/>
          <p:cNvSpPr txBox="1"/>
          <p:nvPr/>
        </p:nvSpPr>
        <p:spPr>
          <a:xfrm>
            <a:off x="8275320" y="3575304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428" name="TextBox 15427"/>
          <p:cNvSpPr txBox="1"/>
          <p:nvPr/>
        </p:nvSpPr>
        <p:spPr>
          <a:xfrm>
            <a:off x="8631936" y="3538728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4181C"/>
                </a:solidFill>
                <a:latin typeface="Arial"/>
              </a:rPr>
              <a:t>Crack before blast</a:t>
            </a:r>
          </a:p>
        </p:txBody>
      </p:sp>
      <p:sp>
        <p:nvSpPr>
          <p:cNvPr id="15429" name="TextBox 15428"/>
          <p:cNvSpPr txBox="1"/>
          <p:nvPr/>
        </p:nvSpPr>
        <p:spPr>
          <a:xfrm>
            <a:off x="8631936" y="3758184"/>
            <a:ext cx="292608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00" b="0" i="0">
                <a:solidFill>
                  <a:srgbClr val="5A626A"/>
                </a:solidFill>
                <a:latin typeface="Arial"/>
              </a:rPr>
              <a:t>The supersonic shockwave arrives 42.3 ms ahead of the muzzle blast. Physical look-ahead, not algorithmic.</a:t>
            </a:r>
          </a:p>
        </p:txBody>
      </p:sp>
      <p:sp>
        <p:nvSpPr>
          <p:cNvPr id="15430" name="Rounded Rectangle 15429"/>
          <p:cNvSpPr/>
          <p:nvPr/>
        </p:nvSpPr>
        <p:spPr>
          <a:xfrm>
            <a:off x="8156448" y="4352544"/>
            <a:ext cx="3529584" cy="8778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AEB6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5431" name="Oval 15430"/>
          <p:cNvSpPr/>
          <p:nvPr/>
        </p:nvSpPr>
        <p:spPr>
          <a:xfrm>
            <a:off x="8275320" y="4471416"/>
            <a:ext cx="274320" cy="274320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5432" name="TextBox 15431"/>
          <p:cNvSpPr txBox="1"/>
          <p:nvPr/>
        </p:nvSpPr>
        <p:spPr>
          <a:xfrm>
            <a:off x="8275320" y="4507992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433" name="TextBox 15432"/>
          <p:cNvSpPr txBox="1"/>
          <p:nvPr/>
        </p:nvSpPr>
        <p:spPr>
          <a:xfrm>
            <a:off x="8631936" y="4471416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4181C"/>
                </a:solidFill>
                <a:latin typeface="Arial"/>
              </a:rPr>
              <a:t>RMS is undefined here</a:t>
            </a:r>
          </a:p>
        </p:txBody>
      </p:sp>
      <p:sp>
        <p:nvSpPr>
          <p:cNvPr id="15434" name="TextBox 15433"/>
          <p:cNvSpPr txBox="1"/>
          <p:nvPr/>
        </p:nvSpPr>
        <p:spPr>
          <a:xfrm>
            <a:off x="8631936" y="4690872"/>
            <a:ext cx="292608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00" b="0" i="0">
                <a:solidFill>
                  <a:srgbClr val="5A626A"/>
                </a:solidFill>
                <a:latin typeface="Arial"/>
              </a:rPr>
              <a:t>Heavy-tailed noise has infinite variance. We scale on percentile and fractional lower-order moments.</a:t>
            </a:r>
          </a:p>
        </p:txBody>
      </p:sp>
      <p:sp>
        <p:nvSpPr>
          <p:cNvPr id="15435" name="Rounded Rectangle 15434"/>
          <p:cNvSpPr/>
          <p:nvPr/>
        </p:nvSpPr>
        <p:spPr>
          <a:xfrm>
            <a:off x="8156448" y="5285232"/>
            <a:ext cx="3529584" cy="8778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AEB6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5436" name="Oval 15435"/>
          <p:cNvSpPr/>
          <p:nvPr/>
        </p:nvSpPr>
        <p:spPr>
          <a:xfrm>
            <a:off x="8275320" y="5404104"/>
            <a:ext cx="274320" cy="274320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5437" name="TextBox 15436"/>
          <p:cNvSpPr txBox="1"/>
          <p:nvPr/>
        </p:nvSpPr>
        <p:spPr>
          <a:xfrm>
            <a:off x="8275320" y="5440680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5438" name="TextBox 15437"/>
          <p:cNvSpPr txBox="1"/>
          <p:nvPr/>
        </p:nvSpPr>
        <p:spPr>
          <a:xfrm>
            <a:off x="8631936" y="5404104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4181C"/>
                </a:solidFill>
                <a:latin typeface="Arial"/>
              </a:rPr>
              <a:t>Measured, not downloaded</a:t>
            </a:r>
          </a:p>
        </p:txBody>
      </p:sp>
      <p:sp>
        <p:nvSpPr>
          <p:cNvPr id="15439" name="TextBox 15438"/>
          <p:cNvSpPr txBox="1"/>
          <p:nvPr/>
        </p:nvSpPr>
        <p:spPr>
          <a:xfrm>
            <a:off x="8631936" y="5623560"/>
            <a:ext cx="292608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00" b="0" i="0">
                <a:solidFill>
                  <a:srgbClr val="5A626A"/>
                </a:solidFill>
                <a:latin typeface="Arial"/>
              </a:rPr>
              <a:t>Calibrated gunshot data, holdout split assigned before capture, checksum-frozen reference.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686800" cy="0"/>
          </a:xfrm>
        </p:spPr>
        <p:txBody>
          <a:bodyPr/>
          <a:lstStyle/>
          <a:p>
            <a:pPr algn="l" eaLnBrk="1" hangingPunct="1"/>
            <a:r>
              <a:rPr lang="en-US" sz="2700" b="1" dirty="0">
                <a:solidFill>
                  <a:srgbClr val="14181C"/>
                </a:solidFill>
                <a:latin typeface="Arial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02920" y="1060704"/>
            <a:ext cx="11155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C2410C"/>
                </a:solidFill>
                <a:latin typeface="Arial"/>
              </a:rPr>
              <a:t>TECHNOLOGIES TO BE USED (E.G. PROGRAMMING LANGUAGES, FRAMEWORKS, HARDWARE)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02920" y="1243584"/>
            <a:ext cx="1170432" cy="438912"/>
          </a:xfrm>
          <a:prstGeom prst="roundRect">
            <a:avLst>
              <a:gd name="adj" fmla="val 14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4181C"/>
                </a:solidFill>
                <a:latin typeface="Arial"/>
              </a:rPr>
              <a:t>C++17</a:t>
            </a:r>
          </a:p>
          <a:p>
            <a:pPr algn="ctr">
              <a:spcBef>
                <a:spcPts val="100"/>
              </a:spcBef>
            </a:pPr>
            <a:r>
              <a:rPr sz="650" b="0" i="0">
                <a:solidFill>
                  <a:srgbClr val="14181C"/>
                </a:solidFill>
                <a:latin typeface="Arial"/>
              </a:rPr>
              <a:t>real-time path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1746504" y="1243584"/>
            <a:ext cx="1170432" cy="438912"/>
          </a:xfrm>
          <a:prstGeom prst="roundRect">
            <a:avLst>
              <a:gd name="adj" fmla="val 14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4181C"/>
                </a:solidFill>
                <a:latin typeface="Arial"/>
              </a:rPr>
              <a:t>ONNX Runtime</a:t>
            </a:r>
          </a:p>
          <a:p>
            <a:pPr algn="ctr">
              <a:spcBef>
                <a:spcPts val="100"/>
              </a:spcBef>
            </a:pPr>
            <a:r>
              <a:rPr sz="650" b="0" i="0">
                <a:solidFill>
                  <a:srgbClr val="14181C"/>
                </a:solidFill>
                <a:latin typeface="Arial"/>
              </a:rPr>
              <a:t>inference on ARM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2990088" y="1243584"/>
            <a:ext cx="1170432" cy="438912"/>
          </a:xfrm>
          <a:prstGeom prst="roundRect">
            <a:avLst>
              <a:gd name="adj" fmla="val 14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4181C"/>
                </a:solidFill>
                <a:latin typeface="Arial"/>
              </a:rPr>
              <a:t>PyTorch</a:t>
            </a:r>
          </a:p>
          <a:p>
            <a:pPr algn="ctr">
              <a:spcBef>
                <a:spcPts val="100"/>
              </a:spcBef>
            </a:pPr>
            <a:r>
              <a:rPr sz="650" b="0" i="0">
                <a:solidFill>
                  <a:srgbClr val="14181C"/>
                </a:solidFill>
                <a:latin typeface="Arial"/>
              </a:rPr>
              <a:t>training, offline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233672" y="1243584"/>
            <a:ext cx="1170432" cy="438912"/>
          </a:xfrm>
          <a:prstGeom prst="roundRect">
            <a:avLst>
              <a:gd name="adj" fmla="val 14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4181C"/>
                </a:solidFill>
                <a:latin typeface="Arial"/>
              </a:rPr>
              <a:t>GTCRN</a:t>
            </a:r>
          </a:p>
          <a:p>
            <a:pPr algn="ctr">
              <a:spcBef>
                <a:spcPts val="100"/>
              </a:spcBef>
            </a:pPr>
            <a:r>
              <a:rPr sz="650" b="0" i="0">
                <a:solidFill>
                  <a:srgbClr val="14181C"/>
                </a:solidFill>
                <a:latin typeface="Arial"/>
              </a:rPr>
              <a:t>23.7 K params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5477256" y="1243584"/>
            <a:ext cx="1170432" cy="438912"/>
          </a:xfrm>
          <a:prstGeom prst="roundRect">
            <a:avLst>
              <a:gd name="adj" fmla="val 14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4181C"/>
                </a:solidFill>
                <a:latin typeface="Arial"/>
              </a:rPr>
              <a:t>Aux-IVA</a:t>
            </a:r>
          </a:p>
          <a:p>
            <a:pPr algn="ctr">
              <a:spcBef>
                <a:spcPts val="100"/>
              </a:spcBef>
            </a:pPr>
            <a:r>
              <a:rPr sz="650" b="0" i="0">
                <a:solidFill>
                  <a:srgbClr val="14181C"/>
                </a:solidFill>
                <a:latin typeface="Arial"/>
              </a:rPr>
              <a:t>blind separation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720840" y="1243584"/>
            <a:ext cx="1170432" cy="438912"/>
          </a:xfrm>
          <a:prstGeom prst="roundRect">
            <a:avLst>
              <a:gd name="adj" fmla="val 14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4181C"/>
                </a:solidFill>
                <a:latin typeface="Arial"/>
              </a:rPr>
              <a:t>BMRI</a:t>
            </a:r>
          </a:p>
          <a:p>
            <a:pPr algn="ctr">
              <a:spcBef>
                <a:spcPts val="100"/>
              </a:spcBef>
            </a:pPr>
            <a:r>
              <a:rPr sz="650" b="0" i="0">
                <a:solidFill>
                  <a:srgbClr val="14181C"/>
                </a:solidFill>
                <a:latin typeface="Arial"/>
              </a:rPr>
              <a:t>impulsive path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7964424" y="1243584"/>
            <a:ext cx="1170432" cy="438912"/>
          </a:xfrm>
          <a:prstGeom prst="roundRect">
            <a:avLst>
              <a:gd name="adj" fmla="val 14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4181C"/>
                </a:solidFill>
                <a:latin typeface="Arial"/>
              </a:rPr>
              <a:t>PFFFT</a:t>
            </a:r>
          </a:p>
          <a:p>
            <a:pPr algn="ctr">
              <a:spcBef>
                <a:spcPts val="100"/>
              </a:spcBef>
            </a:pPr>
            <a:r>
              <a:rPr sz="650" b="0" i="0">
                <a:solidFill>
                  <a:srgbClr val="14181C"/>
                </a:solidFill>
                <a:latin typeface="Arial"/>
              </a:rPr>
              <a:t>BSD FFT, not GPL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9208008" y="1243584"/>
            <a:ext cx="1170432" cy="438912"/>
          </a:xfrm>
          <a:prstGeom prst="roundRect">
            <a:avLst>
              <a:gd name="adj" fmla="val 14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4181C"/>
                </a:solidFill>
                <a:latin typeface="Arial"/>
              </a:rPr>
              <a:t>Raspberry Pi 5</a:t>
            </a:r>
          </a:p>
          <a:p>
            <a:pPr algn="ctr">
              <a:spcBef>
                <a:spcPts val="100"/>
              </a:spcBef>
            </a:pPr>
            <a:r>
              <a:rPr sz="650" b="0" i="0">
                <a:solidFill>
                  <a:srgbClr val="14181C"/>
                </a:solidFill>
                <a:latin typeface="Arial"/>
              </a:rPr>
              <a:t>8 GB, the engine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10451592" y="1243584"/>
            <a:ext cx="1170432" cy="438912"/>
          </a:xfrm>
          <a:prstGeom prst="roundRect">
            <a:avLst>
              <a:gd name="adj" fmla="val 14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4181C"/>
                </a:solidFill>
                <a:latin typeface="Arial"/>
              </a:rPr>
              <a:t>UMC202HD</a:t>
            </a:r>
          </a:p>
          <a:p>
            <a:pPr algn="ctr">
              <a:spcBef>
                <a:spcPts val="100"/>
              </a:spcBef>
            </a:pPr>
            <a:r>
              <a:rPr sz="650" b="0" i="0">
                <a:solidFill>
                  <a:srgbClr val="14181C"/>
                </a:solidFill>
                <a:latin typeface="Arial"/>
              </a:rPr>
              <a:t>2-ch capture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502920" y="1847088"/>
            <a:ext cx="11155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C2410C"/>
                </a:solidFill>
                <a:latin typeface="Arial"/>
              </a:rPr>
              <a:t>METHODOLOGY AND PROCESS FOR IMPLEMENTATION (FLOW CHARTS/IMAGES/ WORKING PROTOTYPE)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502920" y="2029968"/>
            <a:ext cx="11155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AEB6BD"/>
                </a:solidFill>
                <a:latin typeface="Arial"/>
              </a:rPr>
              <a:t>HARDWARE CHAIN — no development computer in the signal path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502920" y="2157984"/>
            <a:ext cx="2011680" cy="4206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5A6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4181C"/>
                </a:solidFill>
                <a:latin typeface="Arial"/>
              </a:rPr>
              <a:t>3 microphones</a:t>
            </a:r>
          </a:p>
          <a:p>
            <a:pPr algn="ctr">
              <a:spcBef>
                <a:spcPts val="100"/>
              </a:spcBef>
            </a:pPr>
            <a:r>
              <a:rPr sz="650" b="0" i="0">
                <a:solidFill>
                  <a:srgbClr val="14181C"/>
                </a:solidFill>
                <a:latin typeface="Arial"/>
              </a:rPr>
              <a:t>voice · reference · error</a:t>
            </a:r>
          </a:p>
        </p:txBody>
      </p:sp>
      <p:cxnSp>
        <p:nvCxnSpPr>
          <p:cNvPr id="17423" name="Connector 17422"/>
          <p:cNvCxnSpPr/>
          <p:nvPr/>
        </p:nvCxnSpPr>
        <p:spPr>
          <a:xfrm>
            <a:off x="2514600" y="2368296"/>
            <a:ext cx="219456" cy="0"/>
          </a:xfrm>
          <a:prstGeom prst="line">
            <a:avLst/>
          </a:prstGeom>
          <a:ln w="19050">
            <a:solidFill>
              <a:srgbClr val="5A6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4" name="Isosceles Triangle 17423"/>
          <p:cNvSpPr/>
          <p:nvPr/>
        </p:nvSpPr>
        <p:spPr>
          <a:xfrm rot="5400000">
            <a:off x="2683764" y="2318004"/>
            <a:ext cx="100584" cy="100584"/>
          </a:xfrm>
          <a:prstGeom prst="triangle">
            <a:avLst/>
          </a:prstGeom>
          <a:solidFill>
            <a:srgbClr val="5A6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5" name="Rounded Rectangle 17424"/>
          <p:cNvSpPr/>
          <p:nvPr/>
        </p:nvSpPr>
        <p:spPr>
          <a:xfrm>
            <a:off x="2734056" y="2157984"/>
            <a:ext cx="2011680" cy="4206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5A6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4181C"/>
                </a:solidFill>
                <a:latin typeface="Arial"/>
              </a:rPr>
              <a:t>UMC202HD</a:t>
            </a:r>
          </a:p>
          <a:p>
            <a:pPr algn="ctr">
              <a:spcBef>
                <a:spcPts val="100"/>
              </a:spcBef>
            </a:pPr>
            <a:r>
              <a:rPr sz="650" b="0" i="0">
                <a:solidFill>
                  <a:srgbClr val="14181C"/>
                </a:solidFill>
                <a:latin typeface="Arial"/>
              </a:rPr>
              <a:t>24-bit, 48 V</a:t>
            </a:r>
          </a:p>
        </p:txBody>
      </p:sp>
      <p:cxnSp>
        <p:nvCxnSpPr>
          <p:cNvPr id="17426" name="Connector 17425"/>
          <p:cNvCxnSpPr/>
          <p:nvPr/>
        </p:nvCxnSpPr>
        <p:spPr>
          <a:xfrm>
            <a:off x="4745736" y="2368296"/>
            <a:ext cx="219456" cy="0"/>
          </a:xfrm>
          <a:prstGeom prst="line">
            <a:avLst/>
          </a:prstGeom>
          <a:ln w="19050">
            <a:solidFill>
              <a:srgbClr val="5A6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7" name="Isosceles Triangle 17426"/>
          <p:cNvSpPr/>
          <p:nvPr/>
        </p:nvSpPr>
        <p:spPr>
          <a:xfrm rot="5400000">
            <a:off x="4914900" y="2318004"/>
            <a:ext cx="100584" cy="100584"/>
          </a:xfrm>
          <a:prstGeom prst="triangle">
            <a:avLst/>
          </a:prstGeom>
          <a:solidFill>
            <a:srgbClr val="5A6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8" name="Rounded Rectangle 17427"/>
          <p:cNvSpPr/>
          <p:nvPr/>
        </p:nvSpPr>
        <p:spPr>
          <a:xfrm>
            <a:off x="4965192" y="2157984"/>
            <a:ext cx="2011680" cy="4206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5A6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4181C"/>
                </a:solidFill>
                <a:latin typeface="Arial"/>
              </a:rPr>
              <a:t>Raspberry Pi 5</a:t>
            </a:r>
          </a:p>
          <a:p>
            <a:pPr algn="ctr">
              <a:spcBef>
                <a:spcPts val="100"/>
              </a:spcBef>
            </a:pPr>
            <a:r>
              <a:rPr sz="650" b="0" i="0">
                <a:solidFill>
                  <a:srgbClr val="14181C"/>
                </a:solidFill>
                <a:latin typeface="Arial"/>
              </a:rPr>
              <a:t>blocks 1–11</a:t>
            </a:r>
          </a:p>
        </p:txBody>
      </p:sp>
      <p:cxnSp>
        <p:nvCxnSpPr>
          <p:cNvPr id="17429" name="Connector 17428"/>
          <p:cNvCxnSpPr/>
          <p:nvPr/>
        </p:nvCxnSpPr>
        <p:spPr>
          <a:xfrm>
            <a:off x="6976872" y="2368296"/>
            <a:ext cx="219456" cy="0"/>
          </a:xfrm>
          <a:prstGeom prst="line">
            <a:avLst/>
          </a:prstGeom>
          <a:ln w="19050">
            <a:solidFill>
              <a:srgbClr val="5A6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0" name="Isosceles Triangle 17429"/>
          <p:cNvSpPr/>
          <p:nvPr/>
        </p:nvSpPr>
        <p:spPr>
          <a:xfrm rot="5400000">
            <a:off x="7146036" y="2318004"/>
            <a:ext cx="100584" cy="100584"/>
          </a:xfrm>
          <a:prstGeom prst="triangle">
            <a:avLst/>
          </a:prstGeom>
          <a:solidFill>
            <a:srgbClr val="5A6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1" name="Rounded Rectangle 17430"/>
          <p:cNvSpPr/>
          <p:nvPr/>
        </p:nvSpPr>
        <p:spPr>
          <a:xfrm>
            <a:off x="7196328" y="2157984"/>
            <a:ext cx="2011680" cy="4206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5A6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4181C"/>
                </a:solidFill>
                <a:latin typeface="Arial"/>
              </a:rPr>
              <a:t>Communication unit</a:t>
            </a:r>
          </a:p>
          <a:p>
            <a:pPr algn="ctr">
              <a:spcBef>
                <a:spcPts val="100"/>
              </a:spcBef>
            </a:pPr>
            <a:r>
              <a:rPr sz="650" b="0" i="0">
                <a:solidFill>
                  <a:srgbClr val="14181C"/>
                </a:solidFill>
                <a:latin typeface="Arial"/>
              </a:rPr>
              <a:t>MELPe 2400 bps</a:t>
            </a:r>
          </a:p>
        </p:txBody>
      </p:sp>
      <p:cxnSp>
        <p:nvCxnSpPr>
          <p:cNvPr id="17432" name="Connector 17431"/>
          <p:cNvCxnSpPr/>
          <p:nvPr/>
        </p:nvCxnSpPr>
        <p:spPr>
          <a:xfrm>
            <a:off x="9208008" y="2368296"/>
            <a:ext cx="219456" cy="0"/>
          </a:xfrm>
          <a:prstGeom prst="line">
            <a:avLst/>
          </a:prstGeom>
          <a:ln w="19050">
            <a:solidFill>
              <a:srgbClr val="5A6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3" name="Isosceles Triangle 17432"/>
          <p:cNvSpPr/>
          <p:nvPr/>
        </p:nvSpPr>
        <p:spPr>
          <a:xfrm rot="5400000">
            <a:off x="9377172" y="2318004"/>
            <a:ext cx="100584" cy="100584"/>
          </a:xfrm>
          <a:prstGeom prst="triangle">
            <a:avLst/>
          </a:prstGeom>
          <a:solidFill>
            <a:srgbClr val="5A6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4" name="Rounded Rectangle 17433"/>
          <p:cNvSpPr/>
          <p:nvPr/>
        </p:nvSpPr>
        <p:spPr>
          <a:xfrm>
            <a:off x="9427464" y="2157984"/>
            <a:ext cx="2011680" cy="4206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5A6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4181C"/>
                </a:solidFill>
                <a:latin typeface="Arial"/>
              </a:rPr>
              <a:t>Earcups</a:t>
            </a:r>
          </a:p>
          <a:p>
            <a:pPr algn="ctr">
              <a:spcBef>
                <a:spcPts val="100"/>
              </a:spcBef>
            </a:pPr>
            <a:r>
              <a:rPr sz="650" b="0" i="0">
                <a:solidFill>
                  <a:srgbClr val="14181C"/>
                </a:solidFill>
                <a:latin typeface="Arial"/>
              </a:rPr>
              <a:t>return audio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502920" y="2706624"/>
            <a:ext cx="11155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AEB6BD"/>
                </a:solidFill>
                <a:latin typeface="Arial"/>
              </a:rPr>
              <a:t>LANE B SIGNAL CHAIN — one 20 ms frame, 10 ms hop, 25.3 ms end to end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502920" y="2871216"/>
            <a:ext cx="1353312" cy="438912"/>
          </a:xfrm>
          <a:prstGeom prst="roundRect">
            <a:avLst>
              <a:gd name="adj" fmla="val 10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AEB6BD"/>
                </a:solidFill>
                <a:latin typeface="Arial"/>
              </a:rPr>
              <a:t>01</a:t>
            </a:r>
          </a:p>
          <a:p>
            <a:pPr algn="ctr"/>
            <a:r>
              <a:rPr sz="800" b="1">
                <a:solidFill>
                  <a:srgbClr val="14181C"/>
                </a:solidFill>
                <a:latin typeface="Arial"/>
              </a:rPr>
              <a:t>Audio in</a:t>
            </a:r>
          </a:p>
        </p:txBody>
      </p:sp>
      <p:cxnSp>
        <p:nvCxnSpPr>
          <p:cNvPr id="17437" name="Connector 17436"/>
          <p:cNvCxnSpPr/>
          <p:nvPr/>
        </p:nvCxnSpPr>
        <p:spPr>
          <a:xfrm>
            <a:off x="1856232" y="3090672"/>
            <a:ext cx="164592" cy="0"/>
          </a:xfrm>
          <a:prstGeom prst="line">
            <a:avLst/>
          </a:prstGeom>
          <a:ln w="19050">
            <a:solidFill>
              <a:srgbClr val="5A6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8" name="Isosceles Triangle 17437"/>
          <p:cNvSpPr/>
          <p:nvPr/>
        </p:nvSpPr>
        <p:spPr>
          <a:xfrm rot="5400000">
            <a:off x="1970532" y="3040380"/>
            <a:ext cx="100584" cy="100584"/>
          </a:xfrm>
          <a:prstGeom prst="triangle">
            <a:avLst/>
          </a:prstGeom>
          <a:solidFill>
            <a:srgbClr val="5A6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9" name="Rounded Rectangle 17438"/>
          <p:cNvSpPr/>
          <p:nvPr/>
        </p:nvSpPr>
        <p:spPr>
          <a:xfrm>
            <a:off x="2020824" y="2871216"/>
            <a:ext cx="1353312" cy="438912"/>
          </a:xfrm>
          <a:prstGeom prst="roundRect">
            <a:avLst>
              <a:gd name="adj" fmla="val 10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AEB6BD"/>
                </a:solidFill>
                <a:latin typeface="Arial"/>
              </a:rPr>
              <a:t>02</a:t>
            </a:r>
          </a:p>
          <a:p>
            <a:pPr algn="ctr"/>
            <a:r>
              <a:rPr sz="800" b="1">
                <a:solidFill>
                  <a:srgbClr val="14181C"/>
                </a:solidFill>
                <a:latin typeface="Arial"/>
              </a:rPr>
              <a:t>Aux-IVA</a:t>
            </a:r>
          </a:p>
        </p:txBody>
      </p:sp>
      <p:cxnSp>
        <p:nvCxnSpPr>
          <p:cNvPr id="17440" name="Connector 17439"/>
          <p:cNvCxnSpPr/>
          <p:nvPr/>
        </p:nvCxnSpPr>
        <p:spPr>
          <a:xfrm>
            <a:off x="3374136" y="3090672"/>
            <a:ext cx="164592" cy="0"/>
          </a:xfrm>
          <a:prstGeom prst="line">
            <a:avLst/>
          </a:prstGeom>
          <a:ln w="19050">
            <a:solidFill>
              <a:srgbClr val="5A6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1" name="Isosceles Triangle 17440"/>
          <p:cNvSpPr/>
          <p:nvPr/>
        </p:nvSpPr>
        <p:spPr>
          <a:xfrm rot="5400000">
            <a:off x="3488436" y="3040380"/>
            <a:ext cx="100584" cy="100584"/>
          </a:xfrm>
          <a:prstGeom prst="triangle">
            <a:avLst/>
          </a:prstGeom>
          <a:solidFill>
            <a:srgbClr val="5A6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2" name="Rounded Rectangle 17441"/>
          <p:cNvSpPr/>
          <p:nvPr/>
        </p:nvSpPr>
        <p:spPr>
          <a:xfrm>
            <a:off x="3538728" y="2871216"/>
            <a:ext cx="1353312" cy="438912"/>
          </a:xfrm>
          <a:prstGeom prst="roundRect">
            <a:avLst>
              <a:gd name="adj" fmla="val 10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AEB6BD"/>
                </a:solidFill>
                <a:latin typeface="Arial"/>
              </a:rPr>
              <a:t>03</a:t>
            </a:r>
          </a:p>
          <a:p>
            <a:pPr algn="ctr"/>
            <a:r>
              <a:rPr sz="800" b="1">
                <a:solidFill>
                  <a:srgbClr val="14181C"/>
                </a:solidFill>
                <a:latin typeface="Arial"/>
              </a:rPr>
              <a:t>Normalise</a:t>
            </a:r>
          </a:p>
        </p:txBody>
      </p:sp>
      <p:cxnSp>
        <p:nvCxnSpPr>
          <p:cNvPr id="17443" name="Connector 17442"/>
          <p:cNvCxnSpPr/>
          <p:nvPr/>
        </p:nvCxnSpPr>
        <p:spPr>
          <a:xfrm>
            <a:off x="4892040" y="3090672"/>
            <a:ext cx="164592" cy="0"/>
          </a:xfrm>
          <a:prstGeom prst="line">
            <a:avLst/>
          </a:prstGeom>
          <a:ln w="19050">
            <a:solidFill>
              <a:srgbClr val="5A6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4" name="Isosceles Triangle 17443"/>
          <p:cNvSpPr/>
          <p:nvPr/>
        </p:nvSpPr>
        <p:spPr>
          <a:xfrm rot="5400000">
            <a:off x="5006340" y="3040380"/>
            <a:ext cx="100584" cy="100584"/>
          </a:xfrm>
          <a:prstGeom prst="triangle">
            <a:avLst/>
          </a:prstGeom>
          <a:solidFill>
            <a:srgbClr val="5A6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5" name="Rounded Rectangle 17444"/>
          <p:cNvSpPr/>
          <p:nvPr/>
        </p:nvSpPr>
        <p:spPr>
          <a:xfrm>
            <a:off x="5056632" y="2871216"/>
            <a:ext cx="1353312" cy="438912"/>
          </a:xfrm>
          <a:prstGeom prst="roundRect">
            <a:avLst>
              <a:gd name="adj" fmla="val 10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AEB6BD"/>
                </a:solidFill>
                <a:latin typeface="Arial"/>
              </a:rPr>
              <a:t>04</a:t>
            </a:r>
          </a:p>
          <a:p>
            <a:pPr algn="ctr"/>
            <a:r>
              <a:rPr sz="800" b="1">
                <a:solidFill>
                  <a:srgbClr val="14181C"/>
                </a:solidFill>
                <a:latin typeface="Arial"/>
              </a:rPr>
              <a:t>STFT + ERB</a:t>
            </a:r>
          </a:p>
        </p:txBody>
      </p:sp>
      <p:cxnSp>
        <p:nvCxnSpPr>
          <p:cNvPr id="17446" name="Connector 17445"/>
          <p:cNvCxnSpPr/>
          <p:nvPr/>
        </p:nvCxnSpPr>
        <p:spPr>
          <a:xfrm>
            <a:off x="6409944" y="3090672"/>
            <a:ext cx="45720" cy="0"/>
          </a:xfrm>
          <a:prstGeom prst="line">
            <a:avLst/>
          </a:prstGeom>
          <a:ln w="19050">
            <a:solidFill>
              <a:srgbClr val="5A6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7" name="Isosceles Triangle 17446"/>
          <p:cNvSpPr/>
          <p:nvPr/>
        </p:nvSpPr>
        <p:spPr>
          <a:xfrm rot="5400000">
            <a:off x="6400800" y="3040380"/>
            <a:ext cx="100584" cy="100584"/>
          </a:xfrm>
          <a:prstGeom prst="triangle">
            <a:avLst/>
          </a:prstGeom>
          <a:solidFill>
            <a:srgbClr val="5A6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8" name="Diamond 17447"/>
          <p:cNvSpPr/>
          <p:nvPr/>
        </p:nvSpPr>
        <p:spPr>
          <a:xfrm>
            <a:off x="6492240" y="2656332"/>
            <a:ext cx="2194560" cy="86868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141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4181C"/>
                </a:solidFill>
                <a:latin typeface="Arial"/>
              </a:rPr>
              <a:t>05  Classifier</a:t>
            </a:r>
          </a:p>
          <a:p>
            <a:pPr algn="ctr"/>
            <a:r>
              <a:rPr sz="650" b="0" i="0">
                <a:solidFill>
                  <a:srgbClr val="14181C"/>
                </a:solidFill>
                <a:latin typeface="Arial"/>
              </a:rPr>
              <a:t>kurtosis → γ, β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8833104" y="2962656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680" b="0" i="0">
                <a:solidFill>
                  <a:srgbClr val="5A626A"/>
                </a:solidFill>
                <a:latin typeface="Arial"/>
              </a:rPr>
              <a:t>the adaptive decision — what makes the system adapt per frame rather than being tuned once</a:t>
            </a:r>
          </a:p>
        </p:txBody>
      </p:sp>
      <p:cxnSp>
        <p:nvCxnSpPr>
          <p:cNvPr id="17450" name="Connector 17449"/>
          <p:cNvCxnSpPr/>
          <p:nvPr/>
        </p:nvCxnSpPr>
        <p:spPr>
          <a:xfrm>
            <a:off x="7589520" y="3525012"/>
            <a:ext cx="0" cy="132588"/>
          </a:xfrm>
          <a:prstGeom prst="line">
            <a:avLst/>
          </a:prstGeom>
          <a:ln w="19050">
            <a:solidFill>
              <a:srgbClr val="1418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51" name="Connector 17450"/>
          <p:cNvCxnSpPr/>
          <p:nvPr/>
        </p:nvCxnSpPr>
        <p:spPr>
          <a:xfrm flipH="1">
            <a:off x="6263640" y="3657600"/>
            <a:ext cx="1325880" cy="0"/>
          </a:xfrm>
          <a:prstGeom prst="line">
            <a:avLst/>
          </a:prstGeom>
          <a:ln w="19050">
            <a:solidFill>
              <a:srgbClr val="1418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52" name="Connector 17451"/>
          <p:cNvCxnSpPr/>
          <p:nvPr/>
        </p:nvCxnSpPr>
        <p:spPr>
          <a:xfrm>
            <a:off x="6263640" y="3657600"/>
            <a:ext cx="0" cy="182880"/>
          </a:xfrm>
          <a:prstGeom prst="line">
            <a:avLst/>
          </a:prstGeom>
          <a:ln w="19050">
            <a:solidFill>
              <a:srgbClr val="1418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3" name="Isosceles Triangle 17452"/>
          <p:cNvSpPr/>
          <p:nvPr/>
        </p:nvSpPr>
        <p:spPr>
          <a:xfrm rot="10800000">
            <a:off x="6204204" y="3781044"/>
            <a:ext cx="118872" cy="118872"/>
          </a:xfrm>
          <a:prstGeom prst="triangle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454" name="Connector 17453"/>
          <p:cNvCxnSpPr/>
          <p:nvPr/>
        </p:nvCxnSpPr>
        <p:spPr>
          <a:xfrm>
            <a:off x="7589520" y="3657600"/>
            <a:ext cx="1508760" cy="0"/>
          </a:xfrm>
          <a:prstGeom prst="line">
            <a:avLst/>
          </a:prstGeom>
          <a:ln w="19050">
            <a:solidFill>
              <a:srgbClr val="1418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55" name="Connector 17454"/>
          <p:cNvCxnSpPr/>
          <p:nvPr/>
        </p:nvCxnSpPr>
        <p:spPr>
          <a:xfrm>
            <a:off x="9098280" y="3657600"/>
            <a:ext cx="0" cy="182880"/>
          </a:xfrm>
          <a:prstGeom prst="line">
            <a:avLst/>
          </a:prstGeom>
          <a:ln w="19050">
            <a:solidFill>
              <a:srgbClr val="1418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6" name="Isosceles Triangle 17455"/>
          <p:cNvSpPr/>
          <p:nvPr/>
        </p:nvSpPr>
        <p:spPr>
          <a:xfrm rot="10800000">
            <a:off x="9038844" y="3781044"/>
            <a:ext cx="118872" cy="118872"/>
          </a:xfrm>
          <a:prstGeom prst="triangle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7" name="TextBox 17456"/>
          <p:cNvSpPr txBox="1"/>
          <p:nvPr/>
        </p:nvSpPr>
        <p:spPr>
          <a:xfrm>
            <a:off x="5257800" y="3465576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 i="0">
                <a:solidFill>
                  <a:srgbClr val="5A626A"/>
                </a:solidFill>
                <a:latin typeface="Arial"/>
              </a:rPr>
              <a:t>impulsive frame</a:t>
            </a:r>
          </a:p>
        </p:txBody>
      </p:sp>
      <p:sp>
        <p:nvSpPr>
          <p:cNvPr id="17458" name="TextBox 17457"/>
          <p:cNvSpPr txBox="1"/>
          <p:nvPr/>
        </p:nvSpPr>
        <p:spPr>
          <a:xfrm>
            <a:off x="8321040" y="3465576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 i="0">
                <a:solidFill>
                  <a:srgbClr val="14181C"/>
                </a:solidFill>
                <a:latin typeface="Arial"/>
              </a:rPr>
              <a:t>stationary / non-stationary</a:t>
            </a:r>
          </a:p>
        </p:txBody>
      </p:sp>
      <p:sp>
        <p:nvSpPr>
          <p:cNvPr id="17459" name="Rounded Rectangle 17458"/>
          <p:cNvSpPr/>
          <p:nvPr/>
        </p:nvSpPr>
        <p:spPr>
          <a:xfrm>
            <a:off x="5166360" y="384048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41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AEB6BD"/>
                </a:solidFill>
                <a:latin typeface="Arial"/>
              </a:rPr>
              <a:t>06</a:t>
            </a:r>
          </a:p>
          <a:p>
            <a:pPr algn="ctr"/>
            <a:r>
              <a:rPr sz="800" b="1">
                <a:solidFill>
                  <a:srgbClr val="14181C"/>
                </a:solidFill>
                <a:latin typeface="Arial"/>
              </a:rPr>
              <a:t>BMRI — detect and interpolate</a:t>
            </a:r>
          </a:p>
        </p:txBody>
      </p:sp>
      <p:sp>
        <p:nvSpPr>
          <p:cNvPr id="17460" name="Rounded Rectangle 17459"/>
          <p:cNvSpPr/>
          <p:nvPr/>
        </p:nvSpPr>
        <p:spPr>
          <a:xfrm>
            <a:off x="8001000" y="384048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14181C"/>
          </a:solidFill>
          <a:ln w="12700">
            <a:solidFill>
              <a:srgbClr val="141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07</a:t>
            </a:r>
          </a:p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GTCRN — learned mask</a:t>
            </a:r>
          </a:p>
        </p:txBody>
      </p:sp>
      <p:cxnSp>
        <p:nvCxnSpPr>
          <p:cNvPr id="17461" name="Connector 17460"/>
          <p:cNvCxnSpPr/>
          <p:nvPr/>
        </p:nvCxnSpPr>
        <p:spPr>
          <a:xfrm>
            <a:off x="6263640" y="4297680"/>
            <a:ext cx="0" cy="182880"/>
          </a:xfrm>
          <a:prstGeom prst="line">
            <a:avLst/>
          </a:prstGeom>
          <a:ln w="19050">
            <a:solidFill>
              <a:srgbClr val="1418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62" name="Connector 17461"/>
          <p:cNvCxnSpPr/>
          <p:nvPr/>
        </p:nvCxnSpPr>
        <p:spPr>
          <a:xfrm flipH="1">
            <a:off x="3968496" y="4480560"/>
            <a:ext cx="2295144" cy="0"/>
          </a:xfrm>
          <a:prstGeom prst="line">
            <a:avLst/>
          </a:prstGeom>
          <a:ln w="19050">
            <a:solidFill>
              <a:srgbClr val="1418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63" name="Connector 17462"/>
          <p:cNvCxnSpPr/>
          <p:nvPr/>
        </p:nvCxnSpPr>
        <p:spPr>
          <a:xfrm>
            <a:off x="9098280" y="4297680"/>
            <a:ext cx="0" cy="182880"/>
          </a:xfrm>
          <a:prstGeom prst="line">
            <a:avLst/>
          </a:prstGeom>
          <a:ln w="19050">
            <a:solidFill>
              <a:srgbClr val="1418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64" name="Connector 17463"/>
          <p:cNvCxnSpPr/>
          <p:nvPr/>
        </p:nvCxnSpPr>
        <p:spPr>
          <a:xfrm flipH="1">
            <a:off x="3968496" y="4480560"/>
            <a:ext cx="5129784" cy="0"/>
          </a:xfrm>
          <a:prstGeom prst="line">
            <a:avLst/>
          </a:prstGeom>
          <a:ln w="19050">
            <a:solidFill>
              <a:srgbClr val="1418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65" name="Connector 17464"/>
          <p:cNvCxnSpPr/>
          <p:nvPr/>
        </p:nvCxnSpPr>
        <p:spPr>
          <a:xfrm>
            <a:off x="3968496" y="4480560"/>
            <a:ext cx="0" cy="182880"/>
          </a:xfrm>
          <a:prstGeom prst="line">
            <a:avLst/>
          </a:prstGeom>
          <a:ln w="19050">
            <a:solidFill>
              <a:srgbClr val="5A6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6" name="Isosceles Triangle 17465"/>
          <p:cNvSpPr/>
          <p:nvPr/>
        </p:nvSpPr>
        <p:spPr>
          <a:xfrm rot="10800000">
            <a:off x="3909060" y="4604004"/>
            <a:ext cx="118872" cy="118872"/>
          </a:xfrm>
          <a:prstGeom prst="triangle">
            <a:avLst/>
          </a:prstGeom>
          <a:solidFill>
            <a:srgbClr val="5A6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7" name="TextBox 17466"/>
          <p:cNvSpPr txBox="1"/>
          <p:nvPr/>
        </p:nvSpPr>
        <p:spPr>
          <a:xfrm>
            <a:off x="4160520" y="4517136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 i="0">
                <a:solidFill>
                  <a:srgbClr val="5A626A"/>
                </a:solidFill>
                <a:latin typeface="Arial"/>
              </a:rPr>
              <a:t>recombine</a:t>
            </a:r>
          </a:p>
        </p:txBody>
      </p:sp>
      <p:sp>
        <p:nvSpPr>
          <p:cNvPr id="17468" name="Rounded Rectangle 17467"/>
          <p:cNvSpPr/>
          <p:nvPr/>
        </p:nvSpPr>
        <p:spPr>
          <a:xfrm>
            <a:off x="3291840" y="4663440"/>
            <a:ext cx="1353312" cy="438912"/>
          </a:xfrm>
          <a:prstGeom prst="roundRect">
            <a:avLst>
              <a:gd name="adj" fmla="val 10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AEB6BD"/>
                </a:solidFill>
                <a:latin typeface="Arial"/>
              </a:rPr>
              <a:t>08</a:t>
            </a:r>
          </a:p>
          <a:p>
            <a:pPr algn="ctr"/>
            <a:r>
              <a:rPr sz="800" b="1">
                <a:solidFill>
                  <a:srgbClr val="14181C"/>
                </a:solidFill>
                <a:latin typeface="Arial"/>
              </a:rPr>
              <a:t>Deep filter</a:t>
            </a:r>
          </a:p>
        </p:txBody>
      </p:sp>
      <p:cxnSp>
        <p:nvCxnSpPr>
          <p:cNvPr id="17469" name="Connector 17468"/>
          <p:cNvCxnSpPr/>
          <p:nvPr/>
        </p:nvCxnSpPr>
        <p:spPr>
          <a:xfrm>
            <a:off x="4645152" y="4882896"/>
            <a:ext cx="164592" cy="0"/>
          </a:xfrm>
          <a:prstGeom prst="line">
            <a:avLst/>
          </a:prstGeom>
          <a:ln w="19050">
            <a:solidFill>
              <a:srgbClr val="5A6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0" name="Isosceles Triangle 17469"/>
          <p:cNvSpPr/>
          <p:nvPr/>
        </p:nvSpPr>
        <p:spPr>
          <a:xfrm rot="5400000">
            <a:off x="4759452" y="4832604"/>
            <a:ext cx="100584" cy="100584"/>
          </a:xfrm>
          <a:prstGeom prst="triangle">
            <a:avLst/>
          </a:prstGeom>
          <a:solidFill>
            <a:srgbClr val="5A6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1" name="Rounded Rectangle 17470"/>
          <p:cNvSpPr/>
          <p:nvPr/>
        </p:nvSpPr>
        <p:spPr>
          <a:xfrm>
            <a:off x="4809744" y="4663440"/>
            <a:ext cx="1353312" cy="438912"/>
          </a:xfrm>
          <a:prstGeom prst="roundRect">
            <a:avLst>
              <a:gd name="adj" fmla="val 10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AEB6BD"/>
                </a:solidFill>
                <a:latin typeface="Arial"/>
              </a:rPr>
              <a:t>09</a:t>
            </a:r>
          </a:p>
          <a:p>
            <a:pPr algn="ctr"/>
            <a:r>
              <a:rPr sz="800" b="1">
                <a:solidFill>
                  <a:srgbClr val="14181C"/>
                </a:solidFill>
                <a:latin typeface="Arial"/>
              </a:rPr>
              <a:t>Voice guard</a:t>
            </a:r>
          </a:p>
        </p:txBody>
      </p:sp>
      <p:cxnSp>
        <p:nvCxnSpPr>
          <p:cNvPr id="17472" name="Connector 17471"/>
          <p:cNvCxnSpPr/>
          <p:nvPr/>
        </p:nvCxnSpPr>
        <p:spPr>
          <a:xfrm>
            <a:off x="6163056" y="4882896"/>
            <a:ext cx="164592" cy="0"/>
          </a:xfrm>
          <a:prstGeom prst="line">
            <a:avLst/>
          </a:prstGeom>
          <a:ln w="19050">
            <a:solidFill>
              <a:srgbClr val="5A6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3" name="Isosceles Triangle 17472"/>
          <p:cNvSpPr/>
          <p:nvPr/>
        </p:nvSpPr>
        <p:spPr>
          <a:xfrm rot="5400000">
            <a:off x="6277356" y="4832604"/>
            <a:ext cx="100584" cy="100584"/>
          </a:xfrm>
          <a:prstGeom prst="triangle">
            <a:avLst/>
          </a:prstGeom>
          <a:solidFill>
            <a:srgbClr val="5A6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4" name="Rounded Rectangle 17473"/>
          <p:cNvSpPr/>
          <p:nvPr/>
        </p:nvSpPr>
        <p:spPr>
          <a:xfrm>
            <a:off x="6327648" y="4663440"/>
            <a:ext cx="1353312" cy="438912"/>
          </a:xfrm>
          <a:prstGeom prst="roundRect">
            <a:avLst>
              <a:gd name="adj" fmla="val 10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AEB6BD"/>
                </a:solidFill>
                <a:latin typeface="Arial"/>
              </a:rPr>
              <a:t>10</a:t>
            </a:r>
          </a:p>
          <a:p>
            <a:pPr algn="ctr"/>
            <a:r>
              <a:rPr sz="800" b="1">
                <a:solidFill>
                  <a:srgbClr val="14181C"/>
                </a:solidFill>
                <a:latin typeface="Arial"/>
              </a:rPr>
              <a:t>Residual</a:t>
            </a:r>
          </a:p>
        </p:txBody>
      </p:sp>
      <p:cxnSp>
        <p:nvCxnSpPr>
          <p:cNvPr id="17475" name="Connector 17474"/>
          <p:cNvCxnSpPr/>
          <p:nvPr/>
        </p:nvCxnSpPr>
        <p:spPr>
          <a:xfrm>
            <a:off x="7680960" y="4882896"/>
            <a:ext cx="164592" cy="0"/>
          </a:xfrm>
          <a:prstGeom prst="line">
            <a:avLst/>
          </a:prstGeom>
          <a:ln w="19050">
            <a:solidFill>
              <a:srgbClr val="5A6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6" name="Isosceles Triangle 17475"/>
          <p:cNvSpPr/>
          <p:nvPr/>
        </p:nvSpPr>
        <p:spPr>
          <a:xfrm rot="5400000">
            <a:off x="7795260" y="4832604"/>
            <a:ext cx="100584" cy="100584"/>
          </a:xfrm>
          <a:prstGeom prst="triangle">
            <a:avLst/>
          </a:prstGeom>
          <a:solidFill>
            <a:srgbClr val="5A6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7" name="Rounded Rectangle 17476"/>
          <p:cNvSpPr/>
          <p:nvPr/>
        </p:nvSpPr>
        <p:spPr>
          <a:xfrm>
            <a:off x="7845552" y="4663440"/>
            <a:ext cx="1353312" cy="438912"/>
          </a:xfrm>
          <a:prstGeom prst="roundRect">
            <a:avLst>
              <a:gd name="adj" fmla="val 10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AEB6BD"/>
                </a:solidFill>
                <a:latin typeface="Arial"/>
              </a:rPr>
              <a:t>11</a:t>
            </a:r>
          </a:p>
          <a:p>
            <a:pPr algn="ctr"/>
            <a:r>
              <a:rPr sz="800" b="1">
                <a:solidFill>
                  <a:srgbClr val="14181C"/>
                </a:solidFill>
                <a:latin typeface="Arial"/>
              </a:rPr>
              <a:t>ISTFT</a:t>
            </a:r>
          </a:p>
        </p:txBody>
      </p:sp>
      <p:cxnSp>
        <p:nvCxnSpPr>
          <p:cNvPr id="17478" name="Connector 17477"/>
          <p:cNvCxnSpPr/>
          <p:nvPr/>
        </p:nvCxnSpPr>
        <p:spPr>
          <a:xfrm>
            <a:off x="9198864" y="4882896"/>
            <a:ext cx="164592" cy="0"/>
          </a:xfrm>
          <a:prstGeom prst="line">
            <a:avLst/>
          </a:prstGeom>
          <a:ln w="19050">
            <a:solidFill>
              <a:srgbClr val="5A6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9" name="Isosceles Triangle 17478"/>
          <p:cNvSpPr/>
          <p:nvPr/>
        </p:nvSpPr>
        <p:spPr>
          <a:xfrm rot="5400000">
            <a:off x="9313164" y="4832604"/>
            <a:ext cx="100584" cy="100584"/>
          </a:xfrm>
          <a:prstGeom prst="triangle">
            <a:avLst/>
          </a:prstGeom>
          <a:solidFill>
            <a:srgbClr val="5A6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80" name="Rounded Rectangle 17479"/>
          <p:cNvSpPr/>
          <p:nvPr/>
        </p:nvSpPr>
        <p:spPr>
          <a:xfrm>
            <a:off x="9363456" y="4663440"/>
            <a:ext cx="1353312" cy="438912"/>
          </a:xfrm>
          <a:prstGeom prst="roundRect">
            <a:avLst>
              <a:gd name="adj" fmla="val 10000"/>
            </a:avLst>
          </a:prstGeom>
          <a:solidFill>
            <a:srgbClr val="ECEEF0"/>
          </a:solidFill>
          <a:ln w="12700">
            <a:solidFill>
              <a:srgbClr val="141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650" b="1">
                <a:solidFill>
                  <a:srgbClr val="AEB6BD"/>
                </a:solidFill>
                <a:latin typeface="Arial"/>
              </a:rPr>
              <a:t>→</a:t>
            </a:r>
          </a:p>
          <a:p>
            <a:pPr algn="ctr"/>
            <a:r>
              <a:rPr sz="800" b="1">
                <a:solidFill>
                  <a:srgbClr val="14181C"/>
                </a:solidFill>
                <a:latin typeface="Arial"/>
              </a:rPr>
              <a:t>Radio</a:t>
            </a:r>
          </a:p>
        </p:txBody>
      </p:sp>
      <p:sp>
        <p:nvSpPr>
          <p:cNvPr id="17481" name="TextBox 17480"/>
          <p:cNvSpPr txBox="1"/>
          <p:nvPr/>
        </p:nvSpPr>
        <p:spPr>
          <a:xfrm>
            <a:off x="502920" y="5230368"/>
            <a:ext cx="11155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AEB6BD"/>
                </a:solidFill>
                <a:latin typeface="Arial"/>
              </a:rPr>
              <a:t>OFFLINE PIPELINE — none of this ships; it shapes the weights that do</a:t>
            </a:r>
          </a:p>
        </p:txBody>
      </p:sp>
      <p:sp>
        <p:nvSpPr>
          <p:cNvPr id="17482" name="Rounded Rectangle 17481"/>
          <p:cNvSpPr/>
          <p:nvPr/>
        </p:nvSpPr>
        <p:spPr>
          <a:xfrm>
            <a:off x="502920" y="5376672"/>
            <a:ext cx="1298448" cy="402336"/>
          </a:xfrm>
          <a:prstGeom prst="roundRect">
            <a:avLst>
              <a:gd name="adj" fmla="val 14000"/>
            </a:avLst>
          </a:prstGeom>
          <a:solidFill>
            <a:srgbClr val="F5F6F8"/>
          </a:solidFill>
          <a:ln w="12700">
            <a:solidFill>
              <a:srgbClr val="AEB6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14181C"/>
                </a:solidFill>
                <a:latin typeface="Arial"/>
              </a:rPr>
              <a:t>Range capture</a:t>
            </a:r>
          </a:p>
          <a:p>
            <a:pPr algn="ctr">
              <a:spcBef>
                <a:spcPts val="100"/>
              </a:spcBef>
            </a:pPr>
            <a:r>
              <a:rPr sz="620" b="0" i="0">
                <a:solidFill>
                  <a:srgbClr val="14181C"/>
                </a:solidFill>
                <a:latin typeface="Arial"/>
              </a:rPr>
              <a:t>96 kHz · calibrated</a:t>
            </a:r>
          </a:p>
        </p:txBody>
      </p:sp>
      <p:cxnSp>
        <p:nvCxnSpPr>
          <p:cNvPr id="17483" name="Connector 17482"/>
          <p:cNvCxnSpPr/>
          <p:nvPr/>
        </p:nvCxnSpPr>
        <p:spPr>
          <a:xfrm>
            <a:off x="1801368" y="5577840"/>
            <a:ext cx="73152" cy="0"/>
          </a:xfrm>
          <a:prstGeom prst="line">
            <a:avLst/>
          </a:prstGeom>
          <a:ln w="15240">
            <a:solidFill>
              <a:srgbClr val="AEB6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84" name="Isosceles Triangle 17483"/>
          <p:cNvSpPr/>
          <p:nvPr/>
        </p:nvSpPr>
        <p:spPr>
          <a:xfrm rot="5400000">
            <a:off x="1833372" y="5536692"/>
            <a:ext cx="82296" cy="82296"/>
          </a:xfrm>
          <a:prstGeom prst="triangle">
            <a:avLst/>
          </a:prstGeom>
          <a:solidFill>
            <a:srgbClr val="AEB6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85" name="Rounded Rectangle 17484"/>
          <p:cNvSpPr/>
          <p:nvPr/>
        </p:nvSpPr>
        <p:spPr>
          <a:xfrm>
            <a:off x="1892808" y="5376672"/>
            <a:ext cx="1298448" cy="402336"/>
          </a:xfrm>
          <a:prstGeom prst="roundRect">
            <a:avLst>
              <a:gd name="adj" fmla="val 14000"/>
            </a:avLst>
          </a:prstGeom>
          <a:solidFill>
            <a:srgbClr val="F5F6F8"/>
          </a:solidFill>
          <a:ln w="12700">
            <a:solidFill>
              <a:srgbClr val="AEB6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14181C"/>
                </a:solidFill>
                <a:latin typeface="Arial"/>
              </a:rPr>
              <a:t>Measure</a:t>
            </a:r>
          </a:p>
          <a:p>
            <a:pPr algn="ctr">
              <a:spcBef>
                <a:spcPts val="100"/>
              </a:spcBef>
            </a:pPr>
            <a:r>
              <a:rPr sz="620" b="0" i="0">
                <a:solidFill>
                  <a:srgbClr val="14181C"/>
                </a:solidFill>
                <a:latin typeface="Arial"/>
              </a:rPr>
              <a:t>16 quantities</a:t>
            </a:r>
          </a:p>
        </p:txBody>
      </p:sp>
      <p:cxnSp>
        <p:nvCxnSpPr>
          <p:cNvPr id="17486" name="Connector 17485"/>
          <p:cNvCxnSpPr/>
          <p:nvPr/>
        </p:nvCxnSpPr>
        <p:spPr>
          <a:xfrm>
            <a:off x="3191256" y="5577840"/>
            <a:ext cx="73152" cy="0"/>
          </a:xfrm>
          <a:prstGeom prst="line">
            <a:avLst/>
          </a:prstGeom>
          <a:ln w="15240">
            <a:solidFill>
              <a:srgbClr val="AEB6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87" name="Isosceles Triangle 17486"/>
          <p:cNvSpPr/>
          <p:nvPr/>
        </p:nvSpPr>
        <p:spPr>
          <a:xfrm rot="5400000">
            <a:off x="3223260" y="5536692"/>
            <a:ext cx="82296" cy="82296"/>
          </a:xfrm>
          <a:prstGeom prst="triangle">
            <a:avLst/>
          </a:prstGeom>
          <a:solidFill>
            <a:srgbClr val="AEB6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88" name="Rounded Rectangle 17487"/>
          <p:cNvSpPr/>
          <p:nvPr/>
        </p:nvSpPr>
        <p:spPr>
          <a:xfrm>
            <a:off x="3282696" y="5376672"/>
            <a:ext cx="1298448" cy="402336"/>
          </a:xfrm>
          <a:prstGeom prst="roundRect">
            <a:avLst>
              <a:gd name="adj" fmla="val 14000"/>
            </a:avLst>
          </a:prstGeom>
          <a:solidFill>
            <a:srgbClr val="F5F6F8"/>
          </a:solidFill>
          <a:ln w="12700">
            <a:solidFill>
              <a:srgbClr val="AEB6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14181C"/>
                </a:solidFill>
                <a:latin typeface="Arial"/>
              </a:rPr>
              <a:t>Validate</a:t>
            </a:r>
          </a:p>
          <a:p>
            <a:pPr algn="ctr">
              <a:spcBef>
                <a:spcPts val="100"/>
              </a:spcBef>
            </a:pPr>
            <a:r>
              <a:rPr sz="620" b="0" i="0">
                <a:solidFill>
                  <a:srgbClr val="14181C"/>
                </a:solidFill>
                <a:latin typeface="Arial"/>
              </a:rPr>
              <a:t>against holdout</a:t>
            </a:r>
          </a:p>
        </p:txBody>
      </p:sp>
      <p:cxnSp>
        <p:nvCxnSpPr>
          <p:cNvPr id="17489" name="Connector 17488"/>
          <p:cNvCxnSpPr/>
          <p:nvPr/>
        </p:nvCxnSpPr>
        <p:spPr>
          <a:xfrm>
            <a:off x="4581144" y="5577840"/>
            <a:ext cx="73152" cy="0"/>
          </a:xfrm>
          <a:prstGeom prst="line">
            <a:avLst/>
          </a:prstGeom>
          <a:ln w="15240">
            <a:solidFill>
              <a:srgbClr val="AEB6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90" name="Isosceles Triangle 17489"/>
          <p:cNvSpPr/>
          <p:nvPr/>
        </p:nvSpPr>
        <p:spPr>
          <a:xfrm rot="5400000">
            <a:off x="4613148" y="5536692"/>
            <a:ext cx="82296" cy="82296"/>
          </a:xfrm>
          <a:prstGeom prst="triangle">
            <a:avLst/>
          </a:prstGeom>
          <a:solidFill>
            <a:srgbClr val="AEB6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91" name="Rounded Rectangle 17490"/>
          <p:cNvSpPr/>
          <p:nvPr/>
        </p:nvSpPr>
        <p:spPr>
          <a:xfrm>
            <a:off x="4672584" y="5376672"/>
            <a:ext cx="1298448" cy="402336"/>
          </a:xfrm>
          <a:prstGeom prst="roundRect">
            <a:avLst>
              <a:gd name="adj" fmla="val 14000"/>
            </a:avLst>
          </a:prstGeom>
          <a:solidFill>
            <a:srgbClr val="F5F6F8"/>
          </a:solidFill>
          <a:ln w="12700">
            <a:solidFill>
              <a:srgbClr val="AEB6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14181C"/>
                </a:solidFill>
                <a:latin typeface="Arial"/>
              </a:rPr>
              <a:t>Mix + augment</a:t>
            </a:r>
          </a:p>
          <a:p>
            <a:pPr algn="ctr">
              <a:spcBef>
                <a:spcPts val="100"/>
              </a:spcBef>
            </a:pPr>
            <a:r>
              <a:rPr sz="620" b="0" i="0">
                <a:solidFill>
                  <a:srgbClr val="14181C"/>
                </a:solidFill>
                <a:latin typeface="Arial"/>
              </a:rPr>
              <a:t>α-stable, clipped</a:t>
            </a:r>
          </a:p>
        </p:txBody>
      </p:sp>
      <p:cxnSp>
        <p:nvCxnSpPr>
          <p:cNvPr id="17492" name="Connector 17491"/>
          <p:cNvCxnSpPr/>
          <p:nvPr/>
        </p:nvCxnSpPr>
        <p:spPr>
          <a:xfrm>
            <a:off x="5971032" y="5577840"/>
            <a:ext cx="73152" cy="0"/>
          </a:xfrm>
          <a:prstGeom prst="line">
            <a:avLst/>
          </a:prstGeom>
          <a:ln w="15240">
            <a:solidFill>
              <a:srgbClr val="AEB6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93" name="Isosceles Triangle 17492"/>
          <p:cNvSpPr/>
          <p:nvPr/>
        </p:nvSpPr>
        <p:spPr>
          <a:xfrm rot="5400000">
            <a:off x="6003036" y="5536692"/>
            <a:ext cx="82296" cy="82296"/>
          </a:xfrm>
          <a:prstGeom prst="triangle">
            <a:avLst/>
          </a:prstGeom>
          <a:solidFill>
            <a:srgbClr val="AEB6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94" name="Rounded Rectangle 17493"/>
          <p:cNvSpPr/>
          <p:nvPr/>
        </p:nvSpPr>
        <p:spPr>
          <a:xfrm>
            <a:off x="6062472" y="5376672"/>
            <a:ext cx="1298448" cy="402336"/>
          </a:xfrm>
          <a:prstGeom prst="roundRect">
            <a:avLst>
              <a:gd name="adj" fmla="val 14000"/>
            </a:avLst>
          </a:prstGeom>
          <a:solidFill>
            <a:srgbClr val="F5F6F8"/>
          </a:solidFill>
          <a:ln w="12700">
            <a:solidFill>
              <a:srgbClr val="AEB6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14181C"/>
                </a:solidFill>
                <a:latin typeface="Arial"/>
              </a:rPr>
              <a:t>Train</a:t>
            </a:r>
          </a:p>
          <a:p>
            <a:pPr algn="ctr">
              <a:spcBef>
                <a:spcPts val="100"/>
              </a:spcBef>
            </a:pPr>
            <a:r>
              <a:rPr sz="620" b="0" i="0">
                <a:solidFill>
                  <a:srgbClr val="14181C"/>
                </a:solidFill>
                <a:latin typeface="Arial"/>
              </a:rPr>
              <a:t>SI-SNR + L1</a:t>
            </a:r>
          </a:p>
        </p:txBody>
      </p:sp>
      <p:cxnSp>
        <p:nvCxnSpPr>
          <p:cNvPr id="17495" name="Connector 17494"/>
          <p:cNvCxnSpPr/>
          <p:nvPr/>
        </p:nvCxnSpPr>
        <p:spPr>
          <a:xfrm>
            <a:off x="7360920" y="5577840"/>
            <a:ext cx="73152" cy="0"/>
          </a:xfrm>
          <a:prstGeom prst="line">
            <a:avLst/>
          </a:prstGeom>
          <a:ln w="15240">
            <a:solidFill>
              <a:srgbClr val="AEB6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96" name="Isosceles Triangle 17495"/>
          <p:cNvSpPr/>
          <p:nvPr/>
        </p:nvSpPr>
        <p:spPr>
          <a:xfrm rot="5400000">
            <a:off x="7392924" y="5536692"/>
            <a:ext cx="82296" cy="82296"/>
          </a:xfrm>
          <a:prstGeom prst="triangle">
            <a:avLst/>
          </a:prstGeom>
          <a:solidFill>
            <a:srgbClr val="AEB6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97" name="Rounded Rectangle 17496"/>
          <p:cNvSpPr/>
          <p:nvPr/>
        </p:nvSpPr>
        <p:spPr>
          <a:xfrm>
            <a:off x="7452360" y="5376672"/>
            <a:ext cx="1298448" cy="402336"/>
          </a:xfrm>
          <a:prstGeom prst="roundRect">
            <a:avLst>
              <a:gd name="adj" fmla="val 14000"/>
            </a:avLst>
          </a:prstGeom>
          <a:solidFill>
            <a:srgbClr val="F5F6F8"/>
          </a:solidFill>
          <a:ln w="12700">
            <a:solidFill>
              <a:srgbClr val="AEB6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14181C"/>
                </a:solidFill>
                <a:latin typeface="Arial"/>
              </a:rPr>
              <a:t>Prune + quantise</a:t>
            </a:r>
          </a:p>
          <a:p>
            <a:pPr algn="ctr">
              <a:spcBef>
                <a:spcPts val="100"/>
              </a:spcBef>
            </a:pPr>
            <a:r>
              <a:rPr sz="620" b="0" i="0">
                <a:solidFill>
                  <a:srgbClr val="14181C"/>
                </a:solidFill>
                <a:latin typeface="Arial"/>
              </a:rPr>
              <a:t>structured, INT8</a:t>
            </a:r>
          </a:p>
        </p:txBody>
      </p:sp>
      <p:cxnSp>
        <p:nvCxnSpPr>
          <p:cNvPr id="17498" name="Connector 17497"/>
          <p:cNvCxnSpPr/>
          <p:nvPr/>
        </p:nvCxnSpPr>
        <p:spPr>
          <a:xfrm>
            <a:off x="8750808" y="5577840"/>
            <a:ext cx="73152" cy="0"/>
          </a:xfrm>
          <a:prstGeom prst="line">
            <a:avLst/>
          </a:prstGeom>
          <a:ln w="15240">
            <a:solidFill>
              <a:srgbClr val="AEB6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99" name="Isosceles Triangle 17498"/>
          <p:cNvSpPr/>
          <p:nvPr/>
        </p:nvSpPr>
        <p:spPr>
          <a:xfrm rot="5400000">
            <a:off x="8782812" y="5536692"/>
            <a:ext cx="82296" cy="82296"/>
          </a:xfrm>
          <a:prstGeom prst="triangle">
            <a:avLst/>
          </a:prstGeom>
          <a:solidFill>
            <a:srgbClr val="AEB6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00" name="Rounded Rectangle 17499"/>
          <p:cNvSpPr/>
          <p:nvPr/>
        </p:nvSpPr>
        <p:spPr>
          <a:xfrm>
            <a:off x="8842248" y="5376672"/>
            <a:ext cx="1298448" cy="402336"/>
          </a:xfrm>
          <a:prstGeom prst="roundRect">
            <a:avLst>
              <a:gd name="adj" fmla="val 14000"/>
            </a:avLst>
          </a:prstGeom>
          <a:solidFill>
            <a:srgbClr val="F5F6F8"/>
          </a:solidFill>
          <a:ln w="12700">
            <a:solidFill>
              <a:srgbClr val="AEB6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14181C"/>
                </a:solidFill>
                <a:latin typeface="Arial"/>
              </a:rPr>
              <a:t>Export ONNX</a:t>
            </a:r>
          </a:p>
          <a:p>
            <a:pPr algn="ctr">
              <a:spcBef>
                <a:spcPts val="100"/>
              </a:spcBef>
            </a:pPr>
            <a:r>
              <a:rPr sz="620" b="0" i="0">
                <a:solidFill>
                  <a:srgbClr val="14181C"/>
                </a:solidFill>
                <a:latin typeface="Arial"/>
              </a:rPr>
              <a:t>the only boundary</a:t>
            </a:r>
          </a:p>
        </p:txBody>
      </p:sp>
      <p:cxnSp>
        <p:nvCxnSpPr>
          <p:cNvPr id="17501" name="Connector 17500"/>
          <p:cNvCxnSpPr/>
          <p:nvPr/>
        </p:nvCxnSpPr>
        <p:spPr>
          <a:xfrm>
            <a:off x="10140696" y="5577840"/>
            <a:ext cx="73152" cy="0"/>
          </a:xfrm>
          <a:prstGeom prst="line">
            <a:avLst/>
          </a:prstGeom>
          <a:ln w="15240">
            <a:solidFill>
              <a:srgbClr val="AEB6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02" name="Isosceles Triangle 17501"/>
          <p:cNvSpPr/>
          <p:nvPr/>
        </p:nvSpPr>
        <p:spPr>
          <a:xfrm rot="5400000">
            <a:off x="10172700" y="5536692"/>
            <a:ext cx="82296" cy="82296"/>
          </a:xfrm>
          <a:prstGeom prst="triangle">
            <a:avLst/>
          </a:prstGeom>
          <a:solidFill>
            <a:srgbClr val="AEB6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03" name="Rounded Rectangle 17502"/>
          <p:cNvSpPr/>
          <p:nvPr/>
        </p:nvSpPr>
        <p:spPr>
          <a:xfrm>
            <a:off x="10232136" y="5376672"/>
            <a:ext cx="1298448" cy="402336"/>
          </a:xfrm>
          <a:prstGeom prst="roundRect">
            <a:avLst>
              <a:gd name="adj" fmla="val 14000"/>
            </a:avLst>
          </a:prstGeom>
          <a:solidFill>
            <a:srgbClr val="F5F6F8"/>
          </a:solidFill>
          <a:ln w="12700">
            <a:solidFill>
              <a:srgbClr val="AEB6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14181C"/>
                </a:solidFill>
                <a:latin typeface="Arial"/>
              </a:rPr>
              <a:t>C++ engine</a:t>
            </a:r>
          </a:p>
          <a:p>
            <a:pPr algn="ctr">
              <a:spcBef>
                <a:spcPts val="100"/>
              </a:spcBef>
            </a:pPr>
            <a:r>
              <a:rPr sz="620" b="0" i="0">
                <a:solidFill>
                  <a:srgbClr val="14181C"/>
                </a:solidFill>
                <a:latin typeface="Arial"/>
              </a:rPr>
              <a:t>parity-tested</a:t>
            </a:r>
          </a:p>
        </p:txBody>
      </p:sp>
      <p:cxnSp>
        <p:nvCxnSpPr>
          <p:cNvPr id="17504" name="Connector 17503"/>
          <p:cNvCxnSpPr/>
          <p:nvPr/>
        </p:nvCxnSpPr>
        <p:spPr>
          <a:xfrm>
            <a:off x="3364992" y="5779008"/>
            <a:ext cx="0" cy="146304"/>
          </a:xfrm>
          <a:prstGeom prst="line">
            <a:avLst/>
          </a:prstGeom>
          <a:ln w="15875">
            <a:solidFill>
              <a:srgbClr val="5A6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05" name="Connector 17504"/>
          <p:cNvCxnSpPr/>
          <p:nvPr/>
        </p:nvCxnSpPr>
        <p:spPr>
          <a:xfrm flipH="1">
            <a:off x="1801368" y="5925312"/>
            <a:ext cx="1563624" cy="0"/>
          </a:xfrm>
          <a:prstGeom prst="line">
            <a:avLst/>
          </a:prstGeom>
          <a:ln w="15875">
            <a:solidFill>
              <a:srgbClr val="5A6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06" name="Connector 17505"/>
          <p:cNvCxnSpPr/>
          <p:nvPr/>
        </p:nvCxnSpPr>
        <p:spPr>
          <a:xfrm flipV="1">
            <a:off x="1801368" y="5779008"/>
            <a:ext cx="0" cy="146304"/>
          </a:xfrm>
          <a:prstGeom prst="line">
            <a:avLst/>
          </a:prstGeom>
          <a:ln w="15875">
            <a:solidFill>
              <a:srgbClr val="5A62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07" name="Isosceles Triangle 17506"/>
          <p:cNvSpPr/>
          <p:nvPr/>
        </p:nvSpPr>
        <p:spPr>
          <a:xfrm>
            <a:off x="1741932" y="5719572"/>
            <a:ext cx="118872" cy="118872"/>
          </a:xfrm>
          <a:prstGeom prst="triangle">
            <a:avLst/>
          </a:prstGeom>
          <a:solidFill>
            <a:srgbClr val="5A6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08" name="TextBox 17507"/>
          <p:cNvSpPr txBox="1"/>
          <p:nvPr/>
        </p:nvSpPr>
        <p:spPr>
          <a:xfrm>
            <a:off x="1188720" y="5943600"/>
            <a:ext cx="2834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5A626A"/>
                </a:solidFill>
                <a:latin typeface="Arial"/>
              </a:rPr>
              <a:t>mismatch → retune the generator</a:t>
            </a:r>
          </a:p>
        </p:txBody>
      </p:sp>
      <p:sp>
        <p:nvSpPr>
          <p:cNvPr id="17509" name="TextBox 17508"/>
          <p:cNvSpPr txBox="1"/>
          <p:nvPr/>
        </p:nvSpPr>
        <p:spPr>
          <a:xfrm>
            <a:off x="5669280" y="5925312"/>
            <a:ext cx="5989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14181C"/>
                </a:solidFill>
                <a:latin typeface="Arial"/>
              </a:rPr>
              <a:t>25.3 ms algorithmic  ·  10 ms compute per hop  ·  under 1 ms Lane A  ·  39.6 MMAC/s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37160" y="546847"/>
            <a:ext cx="8686800" cy="0"/>
          </a:xfrm>
        </p:spPr>
        <p:txBody>
          <a:bodyPr/>
          <a:lstStyle/>
          <a:p>
            <a:pPr algn="l" eaLnBrk="1" hangingPunct="1"/>
            <a:r>
              <a:rPr lang="en-US" sz="2700" b="1" dirty="0">
                <a:solidFill>
                  <a:srgbClr val="14181C"/>
                </a:solidFill>
                <a:latin typeface="Arial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02920" y="1078992"/>
            <a:ext cx="11155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C2410C"/>
                </a:solidFill>
                <a:latin typeface="Arial"/>
              </a:rPr>
              <a:t>ANALYSIS OF THE FEASIBILITY OF THE IDEA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02920" y="1298448"/>
            <a:ext cx="2651760" cy="932688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12" name="TextBox 17411"/>
          <p:cNvSpPr txBox="1"/>
          <p:nvPr/>
        </p:nvSpPr>
        <p:spPr>
          <a:xfrm>
            <a:off x="667512" y="1408176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181C"/>
                </a:solidFill>
                <a:latin typeface="Arial"/>
              </a:rPr>
              <a:t>23.7 K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667512" y="1773936"/>
            <a:ext cx="237744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A626A"/>
                </a:solidFill>
                <a:latin typeface="Arial"/>
              </a:rPr>
              <a:t>model parameters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667512" y="1938528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AEB6BD"/>
                </a:solidFill>
                <a:latin typeface="Arial"/>
              </a:rPr>
              <a:t>GTCRN, ICASSP 2024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3337560" y="1298448"/>
            <a:ext cx="2651760" cy="932688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16" name="TextBox 17415"/>
          <p:cNvSpPr txBox="1"/>
          <p:nvPr/>
        </p:nvSpPr>
        <p:spPr>
          <a:xfrm>
            <a:off x="3502152" y="1408176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181C"/>
                </a:solidFill>
                <a:latin typeface="Arial"/>
              </a:rPr>
              <a:t>39.6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3502152" y="1773936"/>
            <a:ext cx="237744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A626A"/>
                </a:solidFill>
                <a:latin typeface="Arial"/>
              </a:rPr>
              <a:t>MMAC per second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3502152" y="1938528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AEB6BD"/>
                </a:solidFill>
                <a:latin typeface="Arial"/>
              </a:rPr>
              <a:t>runs below Jetson class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6172200" y="1298448"/>
            <a:ext cx="2651760" cy="932688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20" name="TextBox 17419"/>
          <p:cNvSpPr txBox="1"/>
          <p:nvPr/>
        </p:nvSpPr>
        <p:spPr>
          <a:xfrm>
            <a:off x="6336792" y="1408176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181C"/>
                </a:solidFill>
                <a:latin typeface="Arial"/>
              </a:rPr>
              <a:t>2.78 ms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6336792" y="1773936"/>
            <a:ext cx="237744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A626A"/>
                </a:solidFill>
                <a:latin typeface="Arial"/>
              </a:rPr>
              <a:t>per 20 ms frame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6336792" y="1938528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AEB6BD"/>
                </a:solidFill>
                <a:latin typeface="Arial"/>
              </a:rPr>
              <a:t>closest prior work, on CPU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9006840" y="1298448"/>
            <a:ext cx="2651760" cy="932688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24" name="TextBox 17423"/>
          <p:cNvSpPr txBox="1"/>
          <p:nvPr/>
        </p:nvSpPr>
        <p:spPr>
          <a:xfrm>
            <a:off x="9171432" y="1408176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181C"/>
                </a:solidFill>
                <a:latin typeface="Arial"/>
              </a:rPr>
              <a:t>~₹12 k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9171432" y="1773936"/>
            <a:ext cx="237744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A626A"/>
                </a:solidFill>
                <a:latin typeface="Arial"/>
              </a:rPr>
              <a:t>prototype bill of materials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9171432" y="1938528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AEB6BD"/>
                </a:solidFill>
                <a:latin typeface="Arial"/>
              </a:rPr>
              <a:t>excluding microphones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502920" y="2304288"/>
            <a:ext cx="7680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C2410C"/>
                </a:solidFill>
                <a:latin typeface="Arial"/>
              </a:rPr>
              <a:t>PROOF OF EXECUTION — LIVE-RANGE GUNSHOT CAPTURE (OUR OWN DATA)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8275320" y="2295144"/>
            <a:ext cx="3383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C2410C"/>
                </a:solidFill>
                <a:latin typeface="Arial"/>
              </a:rPr>
              <a:t>PRIMARY DATA · NOT A PUBLIC DATASET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457200" y="2478024"/>
            <a:ext cx="1828800" cy="1280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AEB6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pic>
        <p:nvPicPr>
          <p:cNvPr id="17430" name="Picture 17429" descr="field-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523744"/>
            <a:ext cx="1737360" cy="1188720"/>
          </a:xfrm>
          <a:prstGeom prst="rect">
            <a:avLst/>
          </a:prstGeom>
        </p:spPr>
      </p:pic>
      <p:sp>
        <p:nvSpPr>
          <p:cNvPr id="17431" name="Rounded Rectangle 17430"/>
          <p:cNvSpPr/>
          <p:nvPr/>
        </p:nvSpPr>
        <p:spPr>
          <a:xfrm>
            <a:off x="2313432" y="2478024"/>
            <a:ext cx="1828800" cy="1280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AEB6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pic>
        <p:nvPicPr>
          <p:cNvPr id="17432" name="Picture 17431" descr="field-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9152" y="2523744"/>
            <a:ext cx="1737360" cy="1188720"/>
          </a:xfrm>
          <a:prstGeom prst="rect">
            <a:avLst/>
          </a:prstGeom>
        </p:spPr>
      </p:pic>
      <p:sp>
        <p:nvSpPr>
          <p:cNvPr id="17433" name="Rounded Rectangle 17432"/>
          <p:cNvSpPr/>
          <p:nvPr/>
        </p:nvSpPr>
        <p:spPr>
          <a:xfrm>
            <a:off x="4169664" y="2478024"/>
            <a:ext cx="1828800" cy="1280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AEB6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pic>
        <p:nvPicPr>
          <p:cNvPr id="17434" name="Picture 17433" descr="field-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5384" y="2523744"/>
            <a:ext cx="1737360" cy="1188720"/>
          </a:xfrm>
          <a:prstGeom prst="rect">
            <a:avLst/>
          </a:prstGeom>
        </p:spPr>
      </p:pic>
      <p:sp>
        <p:nvSpPr>
          <p:cNvPr id="17435" name="TextBox 17434"/>
          <p:cNvSpPr txBox="1"/>
          <p:nvPr/>
        </p:nvSpPr>
        <p:spPr>
          <a:xfrm>
            <a:off x="502920" y="3767328"/>
            <a:ext cx="544982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0" i="0">
                <a:solidFill>
                  <a:srgbClr val="AEB6BD"/>
                </a:solidFill>
                <a:latin typeface="Arial"/>
              </a:rPr>
              <a:t>Indoor range · staggered-gain two-channel rig · captured live on the ZEIT toolkit laptop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6227064" y="2523744"/>
            <a:ext cx="56875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C2410C"/>
                </a:solidFill>
                <a:latin typeface="Arial"/>
              </a:rPr>
              <a:t>WHY THE RECORDING IS USABLE, NOT JUST DRAMATIC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6227064" y="2793492"/>
            <a:ext cx="68580" cy="6858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38" name="TextBox 17437"/>
          <p:cNvSpPr txBox="1"/>
          <p:nvPr/>
        </p:nvSpPr>
        <p:spPr>
          <a:xfrm>
            <a:off x="6391656" y="2743200"/>
            <a:ext cx="552297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A626A"/>
                </a:solidFill>
                <a:latin typeface="Arial"/>
              </a:rPr>
              <a:t>2-channel staggered gain 18–24 dB apart — the cold channel survives the clip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6227064" y="2999232"/>
            <a:ext cx="68580" cy="6858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40" name="TextBox 17439"/>
          <p:cNvSpPr txBox="1"/>
          <p:nvPr/>
        </p:nvSpPr>
        <p:spPr>
          <a:xfrm>
            <a:off x="6391656" y="2948940"/>
            <a:ext cx="552297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A626A"/>
                </a:solidFill>
                <a:latin typeface="Arial"/>
              </a:rPr>
              <a:t>96 kHz · 24-bit uncompressed WAV · limiter and high-pass OFF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6227064" y="3204972"/>
            <a:ext cx="68580" cy="6858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42" name="TextBox 17441"/>
          <p:cNvSpPr txBox="1"/>
          <p:nvPr/>
        </p:nvSpPr>
        <p:spPr>
          <a:xfrm>
            <a:off x="6391656" y="3154680"/>
            <a:ext cx="552297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A626A"/>
                </a:solidFill>
                <a:latin typeface="Arial"/>
              </a:rPr>
              <a:t>Calibrated to absolute dB SPL with a reference tone, not relative dBFS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6227064" y="3410712"/>
            <a:ext cx="68580" cy="6858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44" name="TextBox 17443"/>
          <p:cNvSpPr txBox="1"/>
          <p:nvPr/>
        </p:nvSpPr>
        <p:spPr>
          <a:xfrm>
            <a:off x="6391656" y="3360420"/>
            <a:ext cx="552297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A626A"/>
                </a:solidFill>
                <a:latin typeface="Arial"/>
              </a:rPr>
              <a:t>54 quantities measured per shot · 16 categories · frozen signature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6227064" y="3616452"/>
            <a:ext cx="68580" cy="6858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46" name="TextBox 17445"/>
          <p:cNvSpPr txBox="1"/>
          <p:nvPr/>
        </p:nvSpPr>
        <p:spPr>
          <a:xfrm>
            <a:off x="6391656" y="3566160"/>
            <a:ext cx="552297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A626A"/>
                </a:solidFill>
                <a:latin typeface="Arial"/>
              </a:rPr>
              <a:t>Holdout split assigned before the first shot · SHA-256 freezes data + engine</a:t>
            </a:r>
          </a:p>
        </p:txBody>
      </p:sp>
      <p:sp>
        <p:nvSpPr>
          <p:cNvPr id="17447" name="Rounded Rectangle 17446"/>
          <p:cNvSpPr/>
          <p:nvPr/>
        </p:nvSpPr>
        <p:spPr>
          <a:xfrm>
            <a:off x="6227064" y="3822192"/>
            <a:ext cx="68580" cy="6858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48" name="TextBox 17447"/>
          <p:cNvSpPr txBox="1"/>
          <p:nvPr/>
        </p:nvSpPr>
        <p:spPr>
          <a:xfrm>
            <a:off x="6391656" y="3771900"/>
            <a:ext cx="552297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A626A"/>
                </a:solidFill>
                <a:latin typeface="Arial"/>
              </a:rPr>
              <a:t>GO / NO-GO validation after every three shots — a range is not repeatable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502920" y="4023360"/>
            <a:ext cx="5120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C2410C"/>
                </a:solidFill>
                <a:latin typeface="Arial"/>
              </a:rPr>
              <a:t>POTENTIAL CHALLENGES AND RISKS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6035040" y="4023360"/>
            <a:ext cx="5623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C2410C"/>
                </a:solidFill>
                <a:latin typeface="Arial"/>
              </a:rPr>
              <a:t>STRATEGIES FOR OVERCOMING THESE CHALLENGES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502920" y="4242816"/>
            <a:ext cx="4983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60" b="1" i="0">
                <a:solidFill>
                  <a:srgbClr val="14181C"/>
                </a:solidFill>
                <a:latin typeface="Arial"/>
              </a:rPr>
              <a:t>One-shot range access; nothing is repeatable</a:t>
            </a:r>
          </a:p>
        </p:txBody>
      </p:sp>
      <p:cxnSp>
        <p:nvCxnSpPr>
          <p:cNvPr id="17452" name="Connector 17451"/>
          <p:cNvCxnSpPr/>
          <p:nvPr/>
        </p:nvCxnSpPr>
        <p:spPr>
          <a:xfrm>
            <a:off x="5577840" y="4343400"/>
            <a:ext cx="310896" cy="0"/>
          </a:xfrm>
          <a:prstGeom prst="line">
            <a:avLst/>
          </a:prstGeom>
          <a:ln w="17780">
            <a:solidFill>
              <a:srgbClr val="C241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3" name="Isosceles Triangle 17452"/>
          <p:cNvSpPr/>
          <p:nvPr/>
        </p:nvSpPr>
        <p:spPr>
          <a:xfrm rot="5400000">
            <a:off x="5838444" y="4293108"/>
            <a:ext cx="100584" cy="100584"/>
          </a:xfrm>
          <a:prstGeom prst="triangl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4" name="TextBox 17453"/>
          <p:cNvSpPr txBox="1"/>
          <p:nvPr/>
        </p:nvSpPr>
        <p:spPr>
          <a:xfrm>
            <a:off x="6035040" y="4242816"/>
            <a:ext cx="56235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40" b="0" i="0">
                <a:solidFill>
                  <a:srgbClr val="5A626A"/>
                </a:solidFill>
                <a:latin typeface="Arial"/>
              </a:rPr>
              <a:t>GO / NO-GO after every three shots; balloons and firecrackers add an energy-scaling axis with no range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502920" y="4608576"/>
            <a:ext cx="4983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60" b="1" i="0">
                <a:solidFill>
                  <a:srgbClr val="14181C"/>
                </a:solidFill>
                <a:latin typeface="Arial"/>
              </a:rPr>
              <a:t>The microphone clips on the blast — irreversibly</a:t>
            </a:r>
          </a:p>
        </p:txBody>
      </p:sp>
      <p:cxnSp>
        <p:nvCxnSpPr>
          <p:cNvPr id="17456" name="Connector 17455"/>
          <p:cNvCxnSpPr/>
          <p:nvPr/>
        </p:nvCxnSpPr>
        <p:spPr>
          <a:xfrm>
            <a:off x="5577840" y="4709160"/>
            <a:ext cx="310896" cy="0"/>
          </a:xfrm>
          <a:prstGeom prst="line">
            <a:avLst/>
          </a:prstGeom>
          <a:ln w="17780">
            <a:solidFill>
              <a:srgbClr val="C241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7" name="Isosceles Triangle 17456"/>
          <p:cNvSpPr/>
          <p:nvPr/>
        </p:nvSpPr>
        <p:spPr>
          <a:xfrm rot="5400000">
            <a:off x="5838444" y="4658868"/>
            <a:ext cx="100584" cy="100584"/>
          </a:xfrm>
          <a:prstGeom prst="triangl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8" name="TextBox 17457"/>
          <p:cNvSpPr txBox="1"/>
          <p:nvPr/>
        </p:nvSpPr>
        <p:spPr>
          <a:xfrm>
            <a:off x="6035040" y="4608576"/>
            <a:ext cx="56235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40" b="0" i="0">
                <a:solidFill>
                  <a:srgbClr val="5A626A"/>
                </a:solidFill>
                <a:latin typeface="Arial"/>
              </a:rPr>
              <a:t>Staggered-gain pair 18–24 dB apart; one channel always survives. Clipping is modelled in training, not wished away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502920" y="4974336"/>
            <a:ext cx="4983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60" b="1" i="0">
                <a:solidFill>
                  <a:srgbClr val="14181C"/>
                </a:solidFill>
                <a:latin typeface="Arial"/>
              </a:rPr>
              <a:t>Pi 5 throttles; latency drifts across a long run</a:t>
            </a:r>
          </a:p>
        </p:txBody>
      </p:sp>
      <p:cxnSp>
        <p:nvCxnSpPr>
          <p:cNvPr id="17460" name="Connector 17459"/>
          <p:cNvCxnSpPr/>
          <p:nvPr/>
        </p:nvCxnSpPr>
        <p:spPr>
          <a:xfrm>
            <a:off x="5577840" y="5074920"/>
            <a:ext cx="310896" cy="0"/>
          </a:xfrm>
          <a:prstGeom prst="line">
            <a:avLst/>
          </a:prstGeom>
          <a:ln w="17780">
            <a:solidFill>
              <a:srgbClr val="C241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1" name="Isosceles Triangle 17460"/>
          <p:cNvSpPr/>
          <p:nvPr/>
        </p:nvSpPr>
        <p:spPr>
          <a:xfrm rot="5400000">
            <a:off x="5838444" y="5024628"/>
            <a:ext cx="100584" cy="100584"/>
          </a:xfrm>
          <a:prstGeom prst="triangl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2" name="TextBox 17461"/>
          <p:cNvSpPr txBox="1"/>
          <p:nvPr/>
        </p:nvSpPr>
        <p:spPr>
          <a:xfrm>
            <a:off x="6035040" y="4974336"/>
            <a:ext cx="56235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40" b="0" i="0">
                <a:solidFill>
                  <a:srgbClr val="5A626A"/>
                </a:solidFill>
                <a:latin typeface="Arial"/>
              </a:rPr>
              <a:t>Official active cooler and 27 W supply, both mandatory. Report 99th-percentile frame time, never the mean</a:t>
            </a:r>
          </a:p>
        </p:txBody>
      </p:sp>
      <p:sp>
        <p:nvSpPr>
          <p:cNvPr id="17463" name="TextBox 17462"/>
          <p:cNvSpPr txBox="1"/>
          <p:nvPr/>
        </p:nvSpPr>
        <p:spPr>
          <a:xfrm>
            <a:off x="502920" y="5340096"/>
            <a:ext cx="4983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60" b="1" i="0">
                <a:solidFill>
                  <a:srgbClr val="14181C"/>
                </a:solidFill>
                <a:latin typeface="Arial"/>
              </a:rPr>
              <a:t>PS targets may be unreachable at very low SNR</a:t>
            </a:r>
          </a:p>
        </p:txBody>
      </p:sp>
      <p:cxnSp>
        <p:nvCxnSpPr>
          <p:cNvPr id="17464" name="Connector 17463"/>
          <p:cNvCxnSpPr/>
          <p:nvPr/>
        </p:nvCxnSpPr>
        <p:spPr>
          <a:xfrm>
            <a:off x="5577840" y="5440680"/>
            <a:ext cx="310896" cy="0"/>
          </a:xfrm>
          <a:prstGeom prst="line">
            <a:avLst/>
          </a:prstGeom>
          <a:ln w="17780">
            <a:solidFill>
              <a:srgbClr val="C241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5" name="Isosceles Triangle 17464"/>
          <p:cNvSpPr/>
          <p:nvPr/>
        </p:nvSpPr>
        <p:spPr>
          <a:xfrm rot="5400000">
            <a:off x="5838444" y="5390388"/>
            <a:ext cx="100584" cy="100584"/>
          </a:xfrm>
          <a:prstGeom prst="triangl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6" name="TextBox 17465"/>
          <p:cNvSpPr txBox="1"/>
          <p:nvPr/>
        </p:nvSpPr>
        <p:spPr>
          <a:xfrm>
            <a:off x="6035040" y="5340096"/>
            <a:ext cx="56235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40" b="0" i="0">
                <a:solidFill>
                  <a:srgbClr val="5A626A"/>
                </a:solidFill>
                <a:latin typeface="Arial"/>
              </a:rPr>
              <a:t>Report PESQ, STOI and SNR as curves against input SNR, and state the crossing point rather than a pass/fail</a:t>
            </a:r>
          </a:p>
        </p:txBody>
      </p:sp>
      <p:sp>
        <p:nvSpPr>
          <p:cNvPr id="17467" name="TextBox 17466"/>
          <p:cNvSpPr txBox="1"/>
          <p:nvPr/>
        </p:nvSpPr>
        <p:spPr>
          <a:xfrm>
            <a:off x="502920" y="5705856"/>
            <a:ext cx="4983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60" b="1" i="0">
                <a:solidFill>
                  <a:srgbClr val="14181C"/>
                </a:solidFill>
                <a:latin typeface="Arial"/>
              </a:rPr>
              <a:t>α-stable augmentation may simply not help</a:t>
            </a:r>
          </a:p>
        </p:txBody>
      </p:sp>
      <p:cxnSp>
        <p:nvCxnSpPr>
          <p:cNvPr id="17468" name="Connector 17467"/>
          <p:cNvCxnSpPr/>
          <p:nvPr/>
        </p:nvCxnSpPr>
        <p:spPr>
          <a:xfrm>
            <a:off x="5577840" y="5806440"/>
            <a:ext cx="310896" cy="0"/>
          </a:xfrm>
          <a:prstGeom prst="line">
            <a:avLst/>
          </a:prstGeom>
          <a:ln w="17780">
            <a:solidFill>
              <a:srgbClr val="C241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9" name="Isosceles Triangle 17468"/>
          <p:cNvSpPr/>
          <p:nvPr/>
        </p:nvSpPr>
        <p:spPr>
          <a:xfrm rot="5400000">
            <a:off x="5838444" y="5756148"/>
            <a:ext cx="100584" cy="100584"/>
          </a:xfrm>
          <a:prstGeom prst="triangl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0" name="TextBox 17469"/>
          <p:cNvSpPr txBox="1"/>
          <p:nvPr/>
        </p:nvSpPr>
        <p:spPr>
          <a:xfrm>
            <a:off x="6035040" y="5705856"/>
            <a:ext cx="56235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40" b="0" i="0">
                <a:solidFill>
                  <a:srgbClr val="5A626A"/>
                </a:solidFill>
                <a:latin typeface="Arial"/>
              </a:rPr>
              <a:t>A Gaussian-augmented baseline trains alongside. An honest negative result, explained, is still a result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4008" y="528918"/>
            <a:ext cx="8686800" cy="0"/>
          </a:xfrm>
        </p:spPr>
        <p:txBody>
          <a:bodyPr/>
          <a:lstStyle/>
          <a:p>
            <a:pPr algn="l" eaLnBrk="1" hangingPunct="1"/>
            <a:r>
              <a:rPr lang="en-US" sz="2700" b="1" dirty="0">
                <a:solidFill>
                  <a:srgbClr val="14181C"/>
                </a:solidFill>
                <a:latin typeface="Arial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02920" y="1078992"/>
            <a:ext cx="11155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C2410C"/>
                </a:solidFill>
                <a:latin typeface="Arial"/>
              </a:rPr>
              <a:t>POTENTIAL IMPACT ON THE TARGET AUDIENCE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02920" y="1298448"/>
            <a:ext cx="3602736" cy="1572768"/>
          </a:xfrm>
          <a:prstGeom prst="roundRect">
            <a:avLst>
              <a:gd name="adj" fmla="val 5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12" name="Oval 17411"/>
          <p:cNvSpPr/>
          <p:nvPr/>
        </p:nvSpPr>
        <p:spPr>
          <a:xfrm>
            <a:off x="704088" y="1481328"/>
            <a:ext cx="329184" cy="32918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704088" y="1522476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1161288" y="1536192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181C"/>
                </a:solidFill>
                <a:latin typeface="Arial"/>
              </a:rPr>
              <a:t>The soldier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704088" y="1901952"/>
            <a:ext cx="3246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860" b="0" i="0">
                <a:solidFill>
                  <a:srgbClr val="5A626A"/>
                </a:solidFill>
                <a:latin typeface="Arial"/>
              </a:rPr>
              <a:t>Commands heard through gunfire, hearing protected at the same time. MIL-STD-1474 caps the ear at 140 dB peak; few weapons fire below 150 dB.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279392" y="1298448"/>
            <a:ext cx="3602736" cy="1572768"/>
          </a:xfrm>
          <a:prstGeom prst="roundRect">
            <a:avLst>
              <a:gd name="adj" fmla="val 5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17" name="Oval 17416"/>
          <p:cNvSpPr/>
          <p:nvPr/>
        </p:nvSpPr>
        <p:spPr>
          <a:xfrm>
            <a:off x="4480560" y="1481328"/>
            <a:ext cx="329184" cy="32918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18" name="TextBox 17417"/>
          <p:cNvSpPr txBox="1"/>
          <p:nvPr/>
        </p:nvSpPr>
        <p:spPr>
          <a:xfrm>
            <a:off x="4480560" y="1522476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4937760" y="1536192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181C"/>
                </a:solidFill>
                <a:latin typeface="Arial"/>
              </a:rPr>
              <a:t>The unit and its commander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4480560" y="1901952"/>
            <a:ext cx="3246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860" b="0" i="0">
                <a:solidFill>
                  <a:srgbClr val="5A626A"/>
                </a:solidFill>
                <a:latin typeface="Arial"/>
              </a:rPr>
              <a:t>Fewer repeated transmissions, fewer misheard orders. A gunshot's cost measured directly — words lost per shot.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8055864" y="1298448"/>
            <a:ext cx="3602736" cy="1572768"/>
          </a:xfrm>
          <a:prstGeom prst="roundRect">
            <a:avLst>
              <a:gd name="adj" fmla="val 5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22" name="Oval 17421"/>
          <p:cNvSpPr/>
          <p:nvPr/>
        </p:nvSpPr>
        <p:spPr>
          <a:xfrm>
            <a:off x="8257032" y="1481328"/>
            <a:ext cx="329184" cy="329184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23" name="TextBox 17422"/>
          <p:cNvSpPr txBox="1"/>
          <p:nvPr/>
        </p:nvSpPr>
        <p:spPr>
          <a:xfrm>
            <a:off x="8257032" y="1522476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8714232" y="1536192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181C"/>
                </a:solidFill>
                <a:latin typeface="Arial"/>
              </a:rPr>
              <a:t>Indian defence industry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8257032" y="1901952"/>
            <a:ext cx="32461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860" b="0" i="0">
                <a:solidFill>
                  <a:srgbClr val="5A626A"/>
                </a:solidFill>
                <a:latin typeface="Arial"/>
              </a:rPr>
              <a:t>Indigenous, permissively licensed engine on a ₹12,000 board, feeding a DRDO software-defined radio. No foreign cloud in the loop.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502920" y="3035808"/>
            <a:ext cx="11155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C2410C"/>
                </a:solidFill>
                <a:latin typeface="Arial"/>
              </a:rPr>
              <a:t>BENEFITS OF THE SOLUTION (SOCIAL, ECONOMIC, ENVIRONMENTAL, ETC.)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502920" y="3255264"/>
            <a:ext cx="2724912" cy="1170432"/>
          </a:xfrm>
          <a:prstGeom prst="roundRect">
            <a:avLst>
              <a:gd name="adj" fmla="val 5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28" name="Rectangle 17427"/>
          <p:cNvSpPr/>
          <p:nvPr/>
        </p:nvSpPr>
        <p:spPr>
          <a:xfrm>
            <a:off x="667512" y="3433572"/>
            <a:ext cx="118872" cy="11887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29" name="TextBox 17428"/>
          <p:cNvSpPr txBox="1"/>
          <p:nvPr/>
        </p:nvSpPr>
        <p:spPr>
          <a:xfrm>
            <a:off x="886968" y="3383280"/>
            <a:ext cx="21945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4181C"/>
                </a:solidFill>
                <a:latin typeface="Arial"/>
              </a:rPr>
              <a:t>Operational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667512" y="3639312"/>
            <a:ext cx="2395728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19" b="0" i="0">
                <a:solidFill>
                  <a:srgbClr val="5A626A"/>
                </a:solidFill>
                <a:latin typeface="Arial"/>
              </a:rPr>
              <a:t>Voice survives the noise class the problem statement names first, and the system adapts per frame rather than being tuned once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3337560" y="3255264"/>
            <a:ext cx="2724912" cy="1170432"/>
          </a:xfrm>
          <a:prstGeom prst="roundRect">
            <a:avLst>
              <a:gd name="adj" fmla="val 5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32" name="Rectangle 17431"/>
          <p:cNvSpPr/>
          <p:nvPr/>
        </p:nvSpPr>
        <p:spPr>
          <a:xfrm>
            <a:off x="3502152" y="3433572"/>
            <a:ext cx="118872" cy="11887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33" name="TextBox 17432"/>
          <p:cNvSpPr txBox="1"/>
          <p:nvPr/>
        </p:nvSpPr>
        <p:spPr>
          <a:xfrm>
            <a:off x="3721608" y="3383280"/>
            <a:ext cx="21945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4181C"/>
                </a:solidFill>
                <a:latin typeface="Arial"/>
              </a:rPr>
              <a:t>Health and social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3502152" y="3639312"/>
            <a:ext cx="2395728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19" b="0" i="0">
                <a:solidFill>
                  <a:srgbClr val="5A626A"/>
                </a:solidFill>
                <a:latin typeface="Arial"/>
              </a:rPr>
              <a:t>Impulse noise is the leading cause of service-related hearing loss. Lane A protects the ear before any processing happens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6172200" y="3255264"/>
            <a:ext cx="2724912" cy="1170432"/>
          </a:xfrm>
          <a:prstGeom prst="roundRect">
            <a:avLst>
              <a:gd name="adj" fmla="val 5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36" name="Rectangle 17435"/>
          <p:cNvSpPr/>
          <p:nvPr/>
        </p:nvSpPr>
        <p:spPr>
          <a:xfrm>
            <a:off x="6336792" y="3433572"/>
            <a:ext cx="118872" cy="11887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37" name="TextBox 17436"/>
          <p:cNvSpPr txBox="1"/>
          <p:nvPr/>
        </p:nvSpPr>
        <p:spPr>
          <a:xfrm>
            <a:off x="6556248" y="3383280"/>
            <a:ext cx="21945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4181C"/>
                </a:solidFill>
                <a:latin typeface="Arial"/>
              </a:rPr>
              <a:t>Economic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6336792" y="3639312"/>
            <a:ext cx="2395728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19" b="0" i="0">
                <a:solidFill>
                  <a:srgbClr val="5A626A"/>
                </a:solidFill>
                <a:latin typeface="Arial"/>
              </a:rPr>
              <a:t>A microcontroller-class model instead of a Jetson. Lower unit cost, lower power, longer field endurance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9006840" y="3255264"/>
            <a:ext cx="2724912" cy="1170432"/>
          </a:xfrm>
          <a:prstGeom prst="roundRect">
            <a:avLst>
              <a:gd name="adj" fmla="val 5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40" name="Rectangle 17439"/>
          <p:cNvSpPr/>
          <p:nvPr/>
        </p:nvSpPr>
        <p:spPr>
          <a:xfrm>
            <a:off x="9171432" y="3433572"/>
            <a:ext cx="118872" cy="11887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41" name="TextBox 17440"/>
          <p:cNvSpPr txBox="1"/>
          <p:nvPr/>
        </p:nvSpPr>
        <p:spPr>
          <a:xfrm>
            <a:off x="9390888" y="3383280"/>
            <a:ext cx="21945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4181C"/>
                </a:solidFill>
                <a:latin typeface="Arial"/>
              </a:rPr>
              <a:t>Strategic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9171432" y="3639312"/>
            <a:ext cx="2395728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19" b="0" i="0">
                <a:solidFill>
                  <a:srgbClr val="5A626A"/>
                </a:solidFill>
                <a:latin typeface="Arial"/>
              </a:rPr>
              <a:t>Indigenous IP, permissive licences, no GPL and no cloud dependency — deployable under Make in India procurement</a:t>
            </a:r>
          </a:p>
        </p:txBody>
      </p:sp>
      <p:cxnSp>
        <p:nvCxnSpPr>
          <p:cNvPr id="17443" name="Connector 17442"/>
          <p:cNvCxnSpPr/>
          <p:nvPr/>
        </p:nvCxnSpPr>
        <p:spPr>
          <a:xfrm>
            <a:off x="502920" y="4590288"/>
            <a:ext cx="11155680" cy="0"/>
          </a:xfrm>
          <a:prstGeom prst="line">
            <a:avLst/>
          </a:prstGeom>
          <a:ln w="9525">
            <a:solidFill>
              <a:srgbClr val="AEB6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4" name="TextBox 17443"/>
          <p:cNvSpPr txBox="1"/>
          <p:nvPr/>
        </p:nvSpPr>
        <p:spPr>
          <a:xfrm>
            <a:off x="502920" y="4700016"/>
            <a:ext cx="11155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AEB6BD"/>
                </a:solidFill>
                <a:latin typeface="Arial"/>
              </a:rPr>
              <a:t>TARGETS THE SYSTEM IS BUILT AGAINST — reported as curves against input SNR, with the crossing point stated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502920" y="4901184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4181C"/>
                </a:solidFill>
                <a:latin typeface="Arial"/>
              </a:rPr>
              <a:t>&gt; 15 dB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502920" y="5266944"/>
            <a:ext cx="1828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0" i="0">
                <a:solidFill>
                  <a:srgbClr val="5A626A"/>
                </a:solidFill>
                <a:latin typeface="Arial"/>
              </a:rPr>
              <a:t>SNR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2386584" y="4901184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4181C"/>
                </a:solidFill>
                <a:latin typeface="Arial"/>
              </a:rPr>
              <a:t>&gt; 0.85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2386584" y="5266944"/>
            <a:ext cx="1828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0" i="0">
                <a:solidFill>
                  <a:srgbClr val="5A626A"/>
                </a:solidFill>
                <a:latin typeface="Arial"/>
              </a:rPr>
              <a:t>STOI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4270248" y="4901184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4181C"/>
                </a:solidFill>
                <a:latin typeface="Arial"/>
              </a:rPr>
              <a:t>&gt; 2.5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4270248" y="5266944"/>
            <a:ext cx="1828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0" i="0">
                <a:solidFill>
                  <a:srgbClr val="5A626A"/>
                </a:solidFill>
                <a:latin typeface="Arial"/>
              </a:rPr>
              <a:t>PESQ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6153912" y="4901184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4181C"/>
                </a:solidFill>
                <a:latin typeface="Arial"/>
              </a:rPr>
              <a:t>&lt; 25.3 ms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6153912" y="5266944"/>
            <a:ext cx="1828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0" i="0">
                <a:solidFill>
                  <a:srgbClr val="5A626A"/>
                </a:solidFill>
                <a:latin typeface="Arial"/>
              </a:rPr>
              <a:t>latency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8037576" y="4901184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4181C"/>
                </a:solidFill>
                <a:latin typeface="Arial"/>
              </a:rPr>
              <a:t>140 dB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8037576" y="5266944"/>
            <a:ext cx="1828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0" i="0">
                <a:solidFill>
                  <a:srgbClr val="5A626A"/>
                </a:solidFill>
                <a:latin typeface="Arial"/>
              </a:rPr>
              <a:t>MIL-STD-1474 limit at the ear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9921240" y="4901184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4181C"/>
                </a:solidFill>
                <a:latin typeface="Arial"/>
              </a:rPr>
              <a:t>watts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9921240" y="5266944"/>
            <a:ext cx="1828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0" i="0">
                <a:solidFill>
                  <a:srgbClr val="5A626A"/>
                </a:solidFill>
                <a:latin typeface="Arial"/>
              </a:rPr>
              <a:t>power draw, on the board</a:t>
            </a:r>
          </a:p>
        </p:txBody>
      </p:sp>
      <p:sp>
        <p:nvSpPr>
          <p:cNvPr id="17457" name="TextBox 17456"/>
          <p:cNvSpPr txBox="1"/>
          <p:nvPr/>
        </p:nvSpPr>
        <p:spPr>
          <a:xfrm>
            <a:off x="502920" y="5742432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 i="0">
                <a:solidFill>
                  <a:srgbClr val="5A626A"/>
                </a:solidFill>
                <a:latin typeface="Arial"/>
              </a:rPr>
              <a:t>Wider application — the same engine serves aerospace ground crew, armoured vehicle intercom, mining and heavy industry: any environment where speech must survive impulsive noise.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4008" y="475130"/>
            <a:ext cx="8686800" cy="0"/>
          </a:xfrm>
        </p:spPr>
        <p:txBody>
          <a:bodyPr/>
          <a:lstStyle/>
          <a:p>
            <a:pPr algn="l" eaLnBrk="1" hangingPunct="1"/>
            <a:r>
              <a:rPr lang="en-US" sz="2700" b="1" dirty="0">
                <a:solidFill>
                  <a:srgbClr val="14181C"/>
                </a:solidFill>
                <a:latin typeface="Arial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02920" y="1078992"/>
            <a:ext cx="11155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C2410C"/>
                </a:solidFill>
                <a:latin typeface="Arial"/>
              </a:rPr>
              <a:t>DETAILS / LINKS OF THE REFERENCE AND RESEARCH WORK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02920" y="1298448"/>
            <a:ext cx="2724912" cy="2395728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12" name="TextBox 17411"/>
          <p:cNvSpPr txBox="1"/>
          <p:nvPr/>
        </p:nvSpPr>
        <p:spPr>
          <a:xfrm>
            <a:off x="649224" y="1408176"/>
            <a:ext cx="243230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410C"/>
                </a:solidFill>
                <a:latin typeface="Arial"/>
              </a:rPr>
              <a:t>Foundations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649224" y="1664208"/>
            <a:ext cx="243230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40" b="0" i="0">
                <a:solidFill>
                  <a:srgbClr val="5A626A"/>
                </a:solidFill>
                <a:latin typeface="Arial"/>
              </a:rPr>
              <a:t>Widrow et al. — Adaptive Noise Cancelling, Proc. IEEE 63(12), 1975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649224" y="2066544"/>
            <a:ext cx="243230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40" b="0" i="0">
                <a:solidFill>
                  <a:srgbClr val="5A626A"/>
                </a:solidFill>
                <a:latin typeface="Arial"/>
              </a:rPr>
              <a:t>Varga &amp; Steeneken — NOISEX-92, Speech Communication 12(3), 1993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649224" y="2468880"/>
            <a:ext cx="243230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40" b="0" i="0">
                <a:solidFill>
                  <a:srgbClr val="5A626A"/>
                </a:solidFill>
                <a:latin typeface="Arial"/>
              </a:rPr>
              <a:t>Shao &amp; Nikias — Fractional lower-order moments, 1993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649224" y="2871216"/>
            <a:ext cx="243230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40" b="0" i="0">
                <a:solidFill>
                  <a:srgbClr val="5A626A"/>
                </a:solidFill>
                <a:latin typeface="Arial"/>
              </a:rPr>
              <a:t>Wang &amp; Chen — Supervised Speech Separation, IEEE/ACM TASLP, 2018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3337560" y="1298448"/>
            <a:ext cx="2724912" cy="2395728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18" name="TextBox 17417"/>
          <p:cNvSpPr txBox="1"/>
          <p:nvPr/>
        </p:nvSpPr>
        <p:spPr>
          <a:xfrm>
            <a:off x="3483864" y="1408176"/>
            <a:ext cx="243230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410C"/>
                </a:solidFill>
                <a:latin typeface="Arial"/>
              </a:rPr>
              <a:t>Learned enhancement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3483864" y="1664208"/>
            <a:ext cx="243230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40" b="0" i="0">
                <a:solidFill>
                  <a:srgbClr val="5A626A"/>
                </a:solidFill>
                <a:latin typeface="Arial"/>
              </a:rPr>
              <a:t>DCCRN — complex-domain enhancement, arXiv:2008.00264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3483864" y="2066544"/>
            <a:ext cx="243230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40" b="0" i="0">
                <a:solidFill>
                  <a:srgbClr val="5A626A"/>
                </a:solidFill>
                <a:latin typeface="Arial"/>
              </a:rPr>
              <a:t>FullSubNet — full-band + sub-band fusion, arXiv:2010.15508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3483864" y="2468880"/>
            <a:ext cx="243230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40" b="0" i="0">
                <a:solidFill>
                  <a:srgbClr val="5A626A"/>
                </a:solidFill>
                <a:latin typeface="Arial"/>
              </a:rPr>
              <a:t>DeepFilterNet2 — real time on a Raspberry Pi 4, IWAENC 2022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3483864" y="2871216"/>
            <a:ext cx="243230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40" b="0" i="0">
                <a:solidFill>
                  <a:srgbClr val="5A626A"/>
                </a:solidFill>
                <a:latin typeface="Arial"/>
              </a:rPr>
              <a:t>Rong et al. — GTCRN, ICASSP 2024 · 23.7 K params, 39.6 MMAC/s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3483864" y="3273552"/>
            <a:ext cx="243230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40" b="0" i="0">
                <a:solidFill>
                  <a:srgbClr val="5A626A"/>
                </a:solidFill>
                <a:latin typeface="Arial"/>
              </a:rPr>
              <a:t>H-GTCRN — Aux-IVA + GTCRN hybrid, dual channel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6172200" y="1298448"/>
            <a:ext cx="2724912" cy="2395728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25" name="TextBox 17424"/>
          <p:cNvSpPr txBox="1"/>
          <p:nvPr/>
        </p:nvSpPr>
        <p:spPr>
          <a:xfrm>
            <a:off x="6318504" y="1408176"/>
            <a:ext cx="243230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410C"/>
                </a:solidFill>
                <a:latin typeface="Arial"/>
              </a:rPr>
              <a:t>Impulsive noise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6318504" y="1664208"/>
            <a:ext cx="243230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40" b="0" i="0">
                <a:solidFill>
                  <a:srgbClr val="5A626A"/>
                </a:solidFill>
                <a:latin typeface="Arial"/>
              </a:rPr>
              <a:t>Ruhland et al. — Binary Mask Residual Interpolation, TASLP 23(10), 2015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6318504" y="2066544"/>
            <a:ext cx="243230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40" b="0" i="0">
                <a:solidFill>
                  <a:srgbClr val="5A626A"/>
                </a:solidFill>
                <a:latin typeface="Arial"/>
              </a:rPr>
              <a:t>Yuan, Li &amp; Kuruoğlu — α-stable training noise, arXiv, 2023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6318504" y="2468880"/>
            <a:ext cx="243230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40" b="0" i="0">
                <a:solidFill>
                  <a:srgbClr val="5A626A"/>
                </a:solidFill>
                <a:latin typeface="Arial"/>
              </a:rPr>
              <a:t>Berger et al. — IS³ impulsive–stationary separation, WASPAA 2025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6318504" y="2871216"/>
            <a:ext cx="243230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40" b="0" i="0">
                <a:solidFill>
                  <a:srgbClr val="5A626A"/>
                </a:solidFill>
                <a:latin typeface="Arial"/>
              </a:rPr>
              <a:t>Ono — Auxiliary-function IVA, WASPAA 2011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9006840" y="1298448"/>
            <a:ext cx="2724912" cy="2395728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31" name="TextBox 17430"/>
          <p:cNvSpPr txBox="1"/>
          <p:nvPr/>
        </p:nvSpPr>
        <p:spPr>
          <a:xfrm>
            <a:off x="9153144" y="1408176"/>
            <a:ext cx="243230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410C"/>
                </a:solidFill>
                <a:latin typeface="Arial"/>
              </a:rPr>
              <a:t>Baselines and metrics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9153144" y="1664208"/>
            <a:ext cx="243230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40" b="0" i="0">
                <a:solidFill>
                  <a:srgbClr val="5A626A"/>
                </a:solidFill>
                <a:latin typeface="Arial"/>
              </a:rPr>
              <a:t>Zhang &amp; Wang — Deep ANC, Neural Networks, 2021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9153144" y="2066544"/>
            <a:ext cx="243230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40" b="0" i="0">
                <a:solidFill>
                  <a:srgbClr val="5A626A"/>
                </a:solidFill>
                <a:latin typeface="Arial"/>
              </a:rPr>
              <a:t>Tan, Zhang &amp; Wang — dual-microphone DC-CRN, IEEE/ACM TASLP, 2021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9153144" y="2468880"/>
            <a:ext cx="243230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40" b="0" i="0">
                <a:solidFill>
                  <a:srgbClr val="5A626A"/>
                </a:solidFill>
                <a:latin typeface="Arial"/>
              </a:rPr>
              <a:t>Le Roux et al. — SDR: half-baked or well done?, ICASSP 2019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9153144" y="2871216"/>
            <a:ext cx="243230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40" b="0" i="0">
                <a:solidFill>
                  <a:srgbClr val="5A626A"/>
                </a:solidFill>
                <a:latin typeface="Arial"/>
              </a:rPr>
              <a:t>Reddy et al. — DNSMOS P.835, ICASSP 2022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9153144" y="3273552"/>
            <a:ext cx="2432304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40" b="0" i="0">
                <a:solidFill>
                  <a:srgbClr val="5A626A"/>
                </a:solidFill>
                <a:latin typeface="Arial"/>
              </a:rPr>
              <a:t>MIL-STD-1474 · ANSI/ASA S3.2 · JSS 55555</a:t>
            </a:r>
          </a:p>
        </p:txBody>
      </p:sp>
      <p:cxnSp>
        <p:nvCxnSpPr>
          <p:cNvPr id="17437" name="Connector 17436"/>
          <p:cNvCxnSpPr/>
          <p:nvPr/>
        </p:nvCxnSpPr>
        <p:spPr>
          <a:xfrm>
            <a:off x="502920" y="3858768"/>
            <a:ext cx="11155680" cy="0"/>
          </a:xfrm>
          <a:prstGeom prst="line">
            <a:avLst/>
          </a:prstGeom>
          <a:ln w="9525">
            <a:solidFill>
              <a:srgbClr val="AEB6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8" name="TextBox 17437"/>
          <p:cNvSpPr txBox="1"/>
          <p:nvPr/>
        </p:nvSpPr>
        <p:spPr>
          <a:xfrm>
            <a:off x="502920" y="3968496"/>
            <a:ext cx="11155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EB6BD"/>
                </a:solidFill>
                <a:latin typeface="Arial"/>
              </a:rPr>
              <a:t>WHERE THE PUBLISHED WORK STOPS — the gaps this project is built on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502920" y="4187952"/>
            <a:ext cx="2724912" cy="1188720"/>
          </a:xfrm>
          <a:prstGeom prst="roundRect">
            <a:avLst>
              <a:gd name="adj" fmla="val 5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40" name="Rectangle 17439"/>
          <p:cNvSpPr/>
          <p:nvPr/>
        </p:nvSpPr>
        <p:spPr>
          <a:xfrm>
            <a:off x="502920" y="4187952"/>
            <a:ext cx="64008" cy="118872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41" name="TextBox 17440"/>
          <p:cNvSpPr txBox="1"/>
          <p:nvPr/>
        </p:nvSpPr>
        <p:spPr>
          <a:xfrm>
            <a:off x="704088" y="42976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80" b="1" i="0">
                <a:solidFill>
                  <a:srgbClr val="14181C"/>
                </a:solidFill>
                <a:latin typeface="Arial"/>
              </a:rPr>
              <a:t>No impulsive noise in deep ANC at all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704088" y="4700016"/>
            <a:ext cx="237744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40" b="0" i="0">
                <a:solidFill>
                  <a:srgbClr val="5A626A"/>
                </a:solidFill>
                <a:latin typeface="Arial"/>
              </a:rPr>
              <a:t>Every result table uses engine, factory, babble and speech-shaped noise. The foundational paper does not address the noise class DRDO names first.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3337560" y="4187952"/>
            <a:ext cx="2724912" cy="1188720"/>
          </a:xfrm>
          <a:prstGeom prst="roundRect">
            <a:avLst>
              <a:gd name="adj" fmla="val 5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44" name="Rectangle 17443"/>
          <p:cNvSpPr/>
          <p:nvPr/>
        </p:nvSpPr>
        <p:spPr>
          <a:xfrm>
            <a:off x="3337560" y="4187952"/>
            <a:ext cx="64008" cy="118872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45" name="TextBox 17444"/>
          <p:cNvSpPr txBox="1"/>
          <p:nvPr/>
        </p:nvSpPr>
        <p:spPr>
          <a:xfrm>
            <a:off x="3538728" y="42976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80" b="1" i="0">
                <a:solidFill>
                  <a:srgbClr val="14181C"/>
                </a:solidFill>
                <a:latin typeface="Arial"/>
              </a:rPr>
              <a:t>Latency is bought back by prediction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3538728" y="4700016"/>
            <a:ext cx="237744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40" b="0" i="0">
                <a:solidFill>
                  <a:srgbClr val="5A626A"/>
                </a:solidFill>
                <a:latin typeface="Arial"/>
              </a:rPr>
              <a:t>1.5–1.7 dB lost per 10 ms — on periodic noise. On a gunshot, prediction has nothing to work with. Nobody has measured the collapse.</a:t>
            </a:r>
          </a:p>
        </p:txBody>
      </p:sp>
      <p:sp>
        <p:nvSpPr>
          <p:cNvPr id="17447" name="Rounded Rectangle 17446"/>
          <p:cNvSpPr/>
          <p:nvPr/>
        </p:nvSpPr>
        <p:spPr>
          <a:xfrm>
            <a:off x="6172200" y="4187952"/>
            <a:ext cx="2724912" cy="1188720"/>
          </a:xfrm>
          <a:prstGeom prst="roundRect">
            <a:avLst>
              <a:gd name="adj" fmla="val 5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48" name="Rectangle 17447"/>
          <p:cNvSpPr/>
          <p:nvPr/>
        </p:nvSpPr>
        <p:spPr>
          <a:xfrm>
            <a:off x="6172200" y="4187952"/>
            <a:ext cx="64008" cy="118872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49" name="TextBox 17448"/>
          <p:cNvSpPr txBox="1"/>
          <p:nvPr/>
        </p:nvSpPr>
        <p:spPr>
          <a:xfrm>
            <a:off x="6373368" y="42976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80" b="1" i="0">
                <a:solidFill>
                  <a:srgbClr val="14181C"/>
                </a:solidFill>
                <a:latin typeface="Arial"/>
              </a:rPr>
              <a:t>RMS normalisation is formally invalid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6373368" y="4700016"/>
            <a:ext cx="237744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40" b="0" i="0">
                <a:solidFill>
                  <a:srgbClr val="5A626A"/>
                </a:solidFill>
                <a:latin typeface="Arial"/>
              </a:rPr>
              <a:t>For heavy-tailed noise the variance is infinite. The closest prior system normalises by RMS; the fix is cited inside another paper we hold.</a:t>
            </a:r>
          </a:p>
        </p:txBody>
      </p:sp>
      <p:sp>
        <p:nvSpPr>
          <p:cNvPr id="17451" name="Rounded Rectangle 17450"/>
          <p:cNvSpPr/>
          <p:nvPr/>
        </p:nvSpPr>
        <p:spPr>
          <a:xfrm>
            <a:off x="9006840" y="4187952"/>
            <a:ext cx="2724912" cy="1188720"/>
          </a:xfrm>
          <a:prstGeom prst="roundRect">
            <a:avLst>
              <a:gd name="adj" fmla="val 5000"/>
            </a:avLst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52" name="Rectangle 17451"/>
          <p:cNvSpPr/>
          <p:nvPr/>
        </p:nvSpPr>
        <p:spPr>
          <a:xfrm>
            <a:off x="9006840" y="4187952"/>
            <a:ext cx="64008" cy="118872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endParaRPr/>
          </a:p>
        </p:txBody>
      </p:sp>
      <p:sp>
        <p:nvSpPr>
          <p:cNvPr id="17453" name="TextBox 17452"/>
          <p:cNvSpPr txBox="1"/>
          <p:nvPr/>
        </p:nvSpPr>
        <p:spPr>
          <a:xfrm>
            <a:off x="9208008" y="42976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80" b="1" i="0">
                <a:solidFill>
                  <a:srgbClr val="14181C"/>
                </a:solidFill>
                <a:latin typeface="Arial"/>
              </a:rPr>
              <a:t>Microphone-side clipping is modelled by nobody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9208008" y="4700016"/>
            <a:ext cx="237744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40" b="0" i="0">
                <a:solidFill>
                  <a:srgbClr val="5A626A"/>
                </a:solidFill>
                <a:latin typeface="Arial"/>
              </a:rPr>
              <a:t>Loudspeaker saturation is modelled carefully. A 140 dB blast destroys the waveform at the capsule, before any algorithm sees it.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502920" y="5541264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40" b="0" i="0">
                <a:solidFill>
                  <a:srgbClr val="5A626A"/>
                </a:solidFill>
                <a:latin typeface="Arial"/>
              </a:rPr>
              <a:t>Full technical account, interactive 3-D prototype and design review accompany this submission. Sixteen sources read end to end; five put code on the device — Widrow, Shao &amp; Nikias, BMRI, GTCRN and H-GTCRN. The rest is method, baseline or evidence.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7490</TotalTime>
  <Words>1722</Words>
  <Application>Microsoft Office PowerPoint</Application>
  <PresentationFormat>Widescreen</PresentationFormat>
  <Paragraphs>261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PowerPoint Presentation</vt:lpstr>
      <vt:lpstr>ZEIT — Two-Lane Impulse-Adaptive Noise Cancellation </vt:lpstr>
      <vt:lpstr>TECHNICAL APPROACH</vt:lpstr>
      <vt:lpstr>FEASIBILITY AND VIABILITY</vt:lpstr>
      <vt:lpstr>IMPACT AND BENEFITS</vt:lpstr>
      <vt:lpstr>RESEARCH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Sarthak Tyagi</cp:lastModifiedBy>
  <cp:revision>149</cp:revision>
  <dcterms:created xsi:type="dcterms:W3CDTF">2013-12-12T18:46:50Z</dcterms:created>
  <dcterms:modified xsi:type="dcterms:W3CDTF">2026-09-10T06:18:37Z</dcterms:modified>
  <cp:category/>
</cp:coreProperties>
</file>