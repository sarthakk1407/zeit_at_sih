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zeit-handbook.netlify.app/" TargetMode="External"/><Relationship Id="rId5" Type="http://schemas.openxmlformats.org/officeDocument/2006/relationships/hyperlink" Target="https://zeit-handbook.netlify.app/zeit-bench-3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Sarthakk1407/Zeit_at_SIH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2920" y="749808"/>
            <a:ext cx="5029200" cy="1463040"/>
          </a:xfrm>
        </p:spPr>
        <p:txBody>
          <a:bodyPr wrap="square"/>
          <a:lstStyle/>
          <a:p>
            <a:r>
              <a:rPr sz="3800" b="1">
                <a:solidFill>
                  <a:srgbClr val="0A0A0A"/>
                </a:solidFill>
                <a:latin typeface="Arial"/>
              </a:rPr>
              <a:t>ZEIT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41416"/>
                </a:solidFill>
                <a:latin typeface="Arial"/>
              </a:rPr>
              <a:t>Two-Lane Adaptive Noise Cancellation for Defence Communications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029200" cy="3474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Problem Statement ID — </a:t>
            </a:r>
            <a:r>
              <a:rPr sz="1150" b="0">
                <a:solidFill>
                  <a:srgbClr val="0A0A0A"/>
                </a:solidFill>
                <a:latin typeface="Arial"/>
              </a:rPr>
              <a:t>26052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Problem Statement Title — </a:t>
            </a:r>
            <a:r>
              <a:rPr sz="1150" b="0">
                <a:solidFill>
                  <a:srgbClr val="0A0A0A"/>
                </a:solidFill>
                <a:latin typeface="Arial"/>
              </a:rPr>
              <a:t>AI/ML-enabled adaptive noise cancellation for stationary, non-stationary and impulsive defence noise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Theme — </a:t>
            </a:r>
            <a:r>
              <a:rPr sz="1150" b="0">
                <a:solidFill>
                  <a:srgbClr val="0A0A0A"/>
                </a:solidFill>
                <a:latin typeface="Arial"/>
              </a:rPr>
              <a:t>Miscellaneous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PS Category — </a:t>
            </a:r>
            <a:r>
              <a:rPr sz="1150" b="0">
                <a:solidFill>
                  <a:srgbClr val="0A0A0A"/>
                </a:solidFill>
                <a:latin typeface="Arial"/>
              </a:rPr>
              <a:t>Hardware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Organisation — </a:t>
            </a:r>
            <a:r>
              <a:rPr sz="1150" b="0">
                <a:solidFill>
                  <a:srgbClr val="0A0A0A"/>
                </a:solidFill>
                <a:latin typeface="Arial"/>
              </a:rPr>
              <a:t>DRDO  ·  Department of Defence Production / IDEX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Team ID — </a:t>
            </a:r>
            <a:r>
              <a:rPr sz="1150" b="0">
                <a:solidFill>
                  <a:srgbClr val="0A0A0A"/>
                </a:solidFill>
                <a:latin typeface="Arial"/>
              </a:rPr>
              <a:t>HW2026106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Team Name — </a:t>
            </a:r>
            <a:r>
              <a:rPr sz="1150" b="1">
                <a:solidFill>
                  <a:srgbClr val="0A0A0A"/>
                </a:solidFill>
                <a:latin typeface="Arial"/>
              </a:rPr>
              <a:t>ZEIT v.1.0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41416"/>
                </a:solidFill>
                <a:latin typeface="Arial"/>
              </a:rPr>
              <a:t>Mentor — </a:t>
            </a:r>
            <a:r>
              <a:rPr sz="1150" b="0">
                <a:solidFill>
                  <a:srgbClr val="0A0A0A"/>
                </a:solidFill>
                <a:latin typeface="Arial"/>
              </a:rPr>
              <a:t>Dr. Swati Singal — Assistant Professor, CSE / SSCSE, Sharda University, Greater Noida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29184" y="822960"/>
            <a:ext cx="64008" cy="1225296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8686800" cy="1143000"/>
          </a:xfrm>
        </p:spPr>
        <p:txBody>
          <a:bodyPr/>
          <a:lstStyle/>
          <a:p>
            <a:pPr eaLnBrk="1" hangingPunct="1" algn="l"/>
            <a:r>
              <a:rPr lang="en-US" sz="2500" b="1" dirty="0">
                <a:solidFill>
                  <a:srgbClr val="0A0A0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ZEIT — Two-Lane Impulse-Adaptive Noise Cancellation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29184" y="932688"/>
            <a:ext cx="1005840" cy="5486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097280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A0A0A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320040" y="137617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1335024"/>
            <a:ext cx="7360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148840" y="1572768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2258568" y="1636776"/>
            <a:ext cx="5495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B5FCC"/>
                </a:solidFill>
                <a:latin typeface="Arial"/>
              </a:rPr>
              <a:t>LANE A  ·  hearing protection  ·  closes in under 1 ms  ·  FxLMS on its own module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148840" y="2688336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2258568" y="2752344"/>
            <a:ext cx="5495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LANE B  ·  transmit to radio  ·  25.3 ms end to end  ·  eleven blocks on the Pi 5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02920" y="1828800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DDEBFC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Mic 3 · error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02920" y="2386584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Mic 2 · reference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02920" y="2944368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Mic 1 · voice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23317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FxLMS filter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1605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Anti-noise driver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59893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The ear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23317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Engine · 11 blocks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1605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Vocoder · MELPe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59893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Radio link</a:t>
            </a:r>
          </a:p>
        </p:txBody>
      </p:sp>
      <p:cxnSp>
        <p:nvCxnSpPr>
          <p:cNvPr id="15379" name="Connector 15378"/>
          <p:cNvCxnSpPr/>
          <p:nvPr/>
        </p:nvCxnSpPr>
        <p:spPr>
          <a:xfrm>
            <a:off x="1828800" y="2048256"/>
            <a:ext cx="502920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Isosceles Triangle 15379"/>
          <p:cNvSpPr/>
          <p:nvPr/>
        </p:nvSpPr>
        <p:spPr>
          <a:xfrm rot="5400000">
            <a:off x="2272284" y="1988820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81" name="Connector 15380"/>
          <p:cNvCxnSpPr/>
          <p:nvPr/>
        </p:nvCxnSpPr>
        <p:spPr>
          <a:xfrm>
            <a:off x="1828800" y="3163824"/>
            <a:ext cx="5029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2" name="Isosceles Triangle 15381"/>
          <p:cNvSpPr/>
          <p:nvPr/>
        </p:nvSpPr>
        <p:spPr>
          <a:xfrm rot="5400000">
            <a:off x="2272284" y="3104388"/>
            <a:ext cx="118872" cy="118872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83" name="Connector 15382"/>
          <p:cNvCxnSpPr/>
          <p:nvPr/>
        </p:nvCxnSpPr>
        <p:spPr>
          <a:xfrm>
            <a:off x="1828800" y="260604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 flipV="1">
            <a:off x="2029968" y="2139696"/>
            <a:ext cx="0" cy="466344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2029968" y="2139696"/>
            <a:ext cx="30175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Isosceles Triangle 15385"/>
          <p:cNvSpPr/>
          <p:nvPr/>
        </p:nvSpPr>
        <p:spPr>
          <a:xfrm rot="5400000">
            <a:off x="2272284" y="2080260"/>
            <a:ext cx="118872" cy="118872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87" name="Connector 15386"/>
          <p:cNvCxnSpPr/>
          <p:nvPr/>
        </p:nvCxnSpPr>
        <p:spPr>
          <a:xfrm>
            <a:off x="2029968" y="2606040"/>
            <a:ext cx="0" cy="466344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8" name="Connector 15387"/>
          <p:cNvCxnSpPr/>
          <p:nvPr/>
        </p:nvCxnSpPr>
        <p:spPr>
          <a:xfrm>
            <a:off x="2029968" y="3072384"/>
            <a:ext cx="30175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Isosceles Triangle 15388"/>
          <p:cNvSpPr/>
          <p:nvPr/>
        </p:nvSpPr>
        <p:spPr>
          <a:xfrm rot="5400000">
            <a:off x="2272284" y="3012948"/>
            <a:ext cx="118872" cy="118872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90" name="Connector 15389"/>
          <p:cNvCxnSpPr/>
          <p:nvPr/>
        </p:nvCxnSpPr>
        <p:spPr>
          <a:xfrm>
            <a:off x="3904488" y="2048256"/>
            <a:ext cx="256032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Isosceles Triangle 15390"/>
          <p:cNvSpPr/>
          <p:nvPr/>
        </p:nvSpPr>
        <p:spPr>
          <a:xfrm rot="5400000">
            <a:off x="4101084" y="1988820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92" name="Connector 15391"/>
          <p:cNvCxnSpPr/>
          <p:nvPr/>
        </p:nvCxnSpPr>
        <p:spPr>
          <a:xfrm>
            <a:off x="3904488" y="3163824"/>
            <a:ext cx="256032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Isosceles Triangle 15392"/>
          <p:cNvSpPr/>
          <p:nvPr/>
        </p:nvSpPr>
        <p:spPr>
          <a:xfrm rot="5400000">
            <a:off x="4101084" y="3104388"/>
            <a:ext cx="118872" cy="118872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94" name="Connector 15393"/>
          <p:cNvCxnSpPr/>
          <p:nvPr/>
        </p:nvCxnSpPr>
        <p:spPr>
          <a:xfrm>
            <a:off x="5733288" y="2048256"/>
            <a:ext cx="256032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5" name="Isosceles Triangle 15394"/>
          <p:cNvSpPr/>
          <p:nvPr/>
        </p:nvSpPr>
        <p:spPr>
          <a:xfrm rot="5400000">
            <a:off x="5929884" y="1988820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96" name="Connector 15395"/>
          <p:cNvCxnSpPr/>
          <p:nvPr/>
        </p:nvCxnSpPr>
        <p:spPr>
          <a:xfrm>
            <a:off x="5733288" y="3163824"/>
            <a:ext cx="256032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7" name="Isosceles Triangle 15396"/>
          <p:cNvSpPr/>
          <p:nvPr/>
        </p:nvSpPr>
        <p:spPr>
          <a:xfrm rot="5400000">
            <a:off x="5929884" y="3104388"/>
            <a:ext cx="118872" cy="118872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98" name="Connector 15397"/>
          <p:cNvCxnSpPr/>
          <p:nvPr/>
        </p:nvCxnSpPr>
        <p:spPr>
          <a:xfrm>
            <a:off x="6775704" y="2267712"/>
            <a:ext cx="0" cy="237744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9" name="Connector 15398"/>
          <p:cNvCxnSpPr/>
          <p:nvPr/>
        </p:nvCxnSpPr>
        <p:spPr>
          <a:xfrm flipH="1">
            <a:off x="3118104" y="2505456"/>
            <a:ext cx="3657600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0" name="Connector 15399"/>
          <p:cNvCxnSpPr/>
          <p:nvPr/>
        </p:nvCxnSpPr>
        <p:spPr>
          <a:xfrm flipV="1">
            <a:off x="3118104" y="2267712"/>
            <a:ext cx="0" cy="237744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1" name="Isosceles Triangle 15400"/>
          <p:cNvSpPr/>
          <p:nvPr/>
        </p:nvSpPr>
        <p:spPr>
          <a:xfrm>
            <a:off x="3058668" y="2208276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3566160" y="2523744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0" i="0">
                <a:solidFill>
                  <a:srgbClr val="0B5FCC"/>
                </a:solidFill>
                <a:latin typeface="Arial"/>
              </a:rPr>
              <a:t>error signal — what still reaches the ear</a:t>
            </a:r>
          </a:p>
        </p:txBody>
      </p:sp>
      <p:sp>
        <p:nvSpPr>
          <p:cNvPr id="15403" name="Rectangle 15402"/>
          <p:cNvSpPr/>
          <p:nvPr/>
        </p:nvSpPr>
        <p:spPr>
          <a:xfrm>
            <a:off x="320040" y="3680460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TextBox 15403"/>
          <p:cNvSpPr txBox="1"/>
          <p:nvPr/>
        </p:nvSpPr>
        <p:spPr>
          <a:xfrm>
            <a:off x="502920" y="3639312"/>
            <a:ext cx="7360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502920" y="385876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06" name="TextBox 15405"/>
          <p:cNvSpPr txBox="1"/>
          <p:nvPr/>
        </p:nvSpPr>
        <p:spPr>
          <a:xfrm>
            <a:off x="630936" y="393192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A0A0A"/>
                </a:solidFill>
                <a:latin typeface="Arial"/>
              </a:rPr>
              <a:t>Impulsive noise — gunshots, artillery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3337560" y="3904488"/>
            <a:ext cx="4361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141416"/>
                </a:solidFill>
                <a:latin typeface="Arial"/>
              </a:rPr>
              <a:t>Detect-and-react transient path, trained through the clipping with α-stable augmentation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502920" y="4352544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09" name="TextBox 15408"/>
          <p:cNvSpPr txBox="1"/>
          <p:nvPr/>
        </p:nvSpPr>
        <p:spPr>
          <a:xfrm>
            <a:off x="630936" y="4425696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A0A0A"/>
                </a:solidFill>
                <a:latin typeface="Arial"/>
              </a:rPr>
              <a:t>Adaptive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3337560" y="4398264"/>
            <a:ext cx="4361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141416"/>
                </a:solidFill>
                <a:latin typeface="Arial"/>
              </a:rPr>
              <a:t>A live kurtosis classifier retunes γ and β every frame — not tuned once, offline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502920" y="4846320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12" name="TextBox 15411"/>
          <p:cNvSpPr txBox="1"/>
          <p:nvPr/>
        </p:nvSpPr>
        <p:spPr>
          <a:xfrm>
            <a:off x="630936" y="4919472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A0A0A"/>
                </a:solidFill>
                <a:latin typeface="Arial"/>
              </a:rPr>
              <a:t>High speech intelligibility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3337560" y="4892040"/>
            <a:ext cx="4361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141416"/>
                </a:solidFill>
                <a:latin typeface="Arial"/>
              </a:rPr>
              <a:t>A dedicated voice guard, with DNSMOS SIG reported separately so over-suppression stays visible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502920" y="5340096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15" name="TextBox 15414"/>
          <p:cNvSpPr txBox="1"/>
          <p:nvPr/>
        </p:nvSpPr>
        <p:spPr>
          <a:xfrm>
            <a:off x="630936" y="5413248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A0A0A"/>
                </a:solidFill>
                <a:latin typeface="Arial"/>
              </a:rPr>
              <a:t>Real-time on embedded hardware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3337560" y="5385816"/>
            <a:ext cx="4361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141416"/>
                </a:solidFill>
                <a:latin typeface="Arial"/>
              </a:rPr>
              <a:t>23.7 K parameters at 39.6 MMAC/s — it runs on a Raspberry Pi 5, not a Jetson</a:t>
            </a:r>
          </a:p>
        </p:txBody>
      </p:sp>
      <p:sp>
        <p:nvSpPr>
          <p:cNvPr id="15417" name="Rectangle 15416"/>
          <p:cNvSpPr/>
          <p:nvPr/>
        </p:nvSpPr>
        <p:spPr>
          <a:xfrm>
            <a:off x="7973568" y="137617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TextBox 15417"/>
          <p:cNvSpPr txBox="1"/>
          <p:nvPr/>
        </p:nvSpPr>
        <p:spPr>
          <a:xfrm>
            <a:off x="8156448" y="1335024"/>
            <a:ext cx="3529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8156448" y="1554480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20" name="Oval 15419"/>
          <p:cNvSpPr/>
          <p:nvPr/>
        </p:nvSpPr>
        <p:spPr>
          <a:xfrm>
            <a:off x="8275320" y="1673352"/>
            <a:ext cx="274320" cy="274320"/>
          </a:xfrm>
          <a:prstGeom prst="ellips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21" name="TextBox 15420"/>
          <p:cNvSpPr txBox="1"/>
          <p:nvPr/>
        </p:nvSpPr>
        <p:spPr>
          <a:xfrm>
            <a:off x="8275320" y="170992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8631936" y="16733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Two lanes, not one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631936" y="1892808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Protection closes in under a millisecond; transmit tolerates 25 ms. Fusing them makes both impossible.</a:t>
            </a:r>
          </a:p>
        </p:txBody>
      </p:sp>
      <p:sp>
        <p:nvSpPr>
          <p:cNvPr id="15424" name="Rounded Rectangle 15423"/>
          <p:cNvSpPr/>
          <p:nvPr/>
        </p:nvSpPr>
        <p:spPr>
          <a:xfrm>
            <a:off x="8156448" y="2487168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25" name="Oval 15424"/>
          <p:cNvSpPr/>
          <p:nvPr/>
        </p:nvSpPr>
        <p:spPr>
          <a:xfrm>
            <a:off x="8275320" y="2606040"/>
            <a:ext cx="274320" cy="274320"/>
          </a:xfrm>
          <a:prstGeom prst="ellips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26" name="TextBox 15425"/>
          <p:cNvSpPr txBox="1"/>
          <p:nvPr/>
        </p:nvSpPr>
        <p:spPr>
          <a:xfrm>
            <a:off x="8275320" y="264261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8631936" y="26060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Detect, do not predict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8631936" y="2825496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Published deep ANC buys latency by predicting noise. A gunshot is unpredictable by definition.</a:t>
            </a:r>
          </a:p>
        </p:txBody>
      </p:sp>
      <p:sp>
        <p:nvSpPr>
          <p:cNvPr id="15429" name="Rounded Rectangle 15428"/>
          <p:cNvSpPr/>
          <p:nvPr/>
        </p:nvSpPr>
        <p:spPr>
          <a:xfrm>
            <a:off x="8156448" y="3419856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30" name="Oval 15429"/>
          <p:cNvSpPr/>
          <p:nvPr/>
        </p:nvSpPr>
        <p:spPr>
          <a:xfrm>
            <a:off x="8275320" y="3538728"/>
            <a:ext cx="274320" cy="274320"/>
          </a:xfrm>
          <a:prstGeom prst="ellips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31" name="TextBox 15430"/>
          <p:cNvSpPr txBox="1"/>
          <p:nvPr/>
        </p:nvSpPr>
        <p:spPr>
          <a:xfrm>
            <a:off x="8275320" y="357530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32" name="TextBox 15431"/>
          <p:cNvSpPr txBox="1"/>
          <p:nvPr/>
        </p:nvSpPr>
        <p:spPr>
          <a:xfrm>
            <a:off x="8631936" y="353872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RMS is undefined here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8631936" y="3758184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Heavy-tailed noise has infinite variance. We scale on percentile and fractional lower-order moments.</a:t>
            </a:r>
          </a:p>
        </p:txBody>
      </p:sp>
      <p:sp>
        <p:nvSpPr>
          <p:cNvPr id="15434" name="Rounded Rectangle 15433"/>
          <p:cNvSpPr/>
          <p:nvPr/>
        </p:nvSpPr>
        <p:spPr>
          <a:xfrm>
            <a:off x="8156448" y="4352544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35" name="Oval 15434"/>
          <p:cNvSpPr/>
          <p:nvPr/>
        </p:nvSpPr>
        <p:spPr>
          <a:xfrm>
            <a:off x="8275320" y="4471416"/>
            <a:ext cx="274320" cy="274320"/>
          </a:xfrm>
          <a:prstGeom prst="ellips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36" name="TextBox 15435"/>
          <p:cNvSpPr txBox="1"/>
          <p:nvPr/>
        </p:nvSpPr>
        <p:spPr>
          <a:xfrm>
            <a:off x="8275320" y="450799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37" name="TextBox 15436"/>
          <p:cNvSpPr txBox="1"/>
          <p:nvPr/>
        </p:nvSpPr>
        <p:spPr>
          <a:xfrm>
            <a:off x="8631936" y="447141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Measured, not downloaded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8631936" y="4690872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Calibrated gunshot data of our own, holdout split assigned before capture, checksum-frozen reference.</a:t>
            </a:r>
          </a:p>
        </p:txBody>
      </p:sp>
      <p:sp>
        <p:nvSpPr>
          <p:cNvPr id="15439" name="Rounded Rectangle 15438"/>
          <p:cNvSpPr/>
          <p:nvPr/>
        </p:nvSpPr>
        <p:spPr>
          <a:xfrm>
            <a:off x="8156448" y="5340096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DDEBFC"/>
          </a:solidFill>
          <a:ln w="9525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40" name="Oval 15439"/>
          <p:cNvSpPr/>
          <p:nvPr/>
        </p:nvSpPr>
        <p:spPr>
          <a:xfrm>
            <a:off x="8275320" y="5422392"/>
            <a:ext cx="274320" cy="274320"/>
          </a:xfrm>
          <a:prstGeom prst="ellips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441" name="TextBox 15440"/>
          <p:cNvSpPr txBox="1"/>
          <p:nvPr/>
        </p:nvSpPr>
        <p:spPr>
          <a:xfrm>
            <a:off x="8275320" y="545896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42" name="TextBox 15441"/>
          <p:cNvSpPr txBox="1"/>
          <p:nvPr/>
        </p:nvSpPr>
        <p:spPr>
          <a:xfrm>
            <a:off x="8631936" y="542239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Crack before blast</a:t>
            </a:r>
          </a:p>
        </p:txBody>
      </p:sp>
      <p:cxnSp>
        <p:nvCxnSpPr>
          <p:cNvPr id="15443" name="Connector 15442"/>
          <p:cNvCxnSpPr/>
          <p:nvPr/>
        </p:nvCxnSpPr>
        <p:spPr>
          <a:xfrm>
            <a:off x="8613648" y="5943600"/>
            <a:ext cx="2706624" cy="0"/>
          </a:xfrm>
          <a:prstGeom prst="line">
            <a:avLst/>
          </a:prstGeom>
          <a:ln w="1270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4" name="Connector 15443"/>
          <p:cNvCxnSpPr/>
          <p:nvPr/>
        </p:nvCxnSpPr>
        <p:spPr>
          <a:xfrm>
            <a:off x="8613648" y="5879592"/>
            <a:ext cx="0" cy="128016"/>
          </a:xfrm>
          <a:prstGeom prst="line">
            <a:avLst/>
          </a:prstGeom>
          <a:ln w="15875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5" name="TextBox 15444"/>
          <p:cNvSpPr txBox="1"/>
          <p:nvPr/>
        </p:nvSpPr>
        <p:spPr>
          <a:xfrm>
            <a:off x="8193024" y="602589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141416"/>
                </a:solidFill>
                <a:latin typeface="Arial"/>
              </a:rPr>
              <a:t>0 · trigger</a:t>
            </a:r>
          </a:p>
        </p:txBody>
      </p:sp>
      <p:cxnSp>
        <p:nvCxnSpPr>
          <p:cNvPr id="15446" name="Connector 15445"/>
          <p:cNvCxnSpPr/>
          <p:nvPr/>
        </p:nvCxnSpPr>
        <p:spPr>
          <a:xfrm>
            <a:off x="9837042" y="5879592"/>
            <a:ext cx="0" cy="128016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7" name="TextBox 15446"/>
          <p:cNvSpPr txBox="1"/>
          <p:nvPr/>
        </p:nvSpPr>
        <p:spPr>
          <a:xfrm>
            <a:off x="9416418" y="602589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0B5FCC"/>
                </a:solidFill>
                <a:latin typeface="Arial"/>
              </a:rPr>
              <a:t>45.2 · crack</a:t>
            </a:r>
          </a:p>
        </p:txBody>
      </p:sp>
      <p:cxnSp>
        <p:nvCxnSpPr>
          <p:cNvPr id="15448" name="Connector 15447"/>
          <p:cNvCxnSpPr/>
          <p:nvPr/>
        </p:nvCxnSpPr>
        <p:spPr>
          <a:xfrm>
            <a:off x="10981944" y="5879592"/>
            <a:ext cx="0" cy="128016"/>
          </a:xfrm>
          <a:prstGeom prst="line">
            <a:avLst/>
          </a:prstGeom>
          <a:ln w="15875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9" name="TextBox 15448"/>
          <p:cNvSpPr txBox="1"/>
          <p:nvPr/>
        </p:nvSpPr>
        <p:spPr>
          <a:xfrm>
            <a:off x="10561320" y="602589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0A0A0A"/>
                </a:solidFill>
                <a:latin typeface="Arial"/>
              </a:rPr>
              <a:t>87.5 · blast</a:t>
            </a:r>
          </a:p>
        </p:txBody>
      </p:sp>
      <p:cxnSp>
        <p:nvCxnSpPr>
          <p:cNvPr id="15450" name="Connector 15449"/>
          <p:cNvCxnSpPr/>
          <p:nvPr/>
        </p:nvCxnSpPr>
        <p:spPr>
          <a:xfrm>
            <a:off x="9837042" y="5815584"/>
            <a:ext cx="1144902" cy="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51" name="TextBox 15450"/>
          <p:cNvSpPr txBox="1"/>
          <p:nvPr/>
        </p:nvSpPr>
        <p:spPr>
          <a:xfrm>
            <a:off x="9562722" y="5650992"/>
            <a:ext cx="16935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B5FCC"/>
                </a:solidFill>
                <a:latin typeface="Arial"/>
              </a:rPr>
              <a:t>42.3 ms of warning</a:t>
            </a:r>
          </a:p>
        </p:txBody>
      </p:sp>
      <p:sp>
        <p:nvSpPr>
          <p:cNvPr id="15452" name="TextBox 15451"/>
          <p:cNvSpPr txBox="1"/>
          <p:nvPr/>
        </p:nvSpPr>
        <p:spPr>
          <a:xfrm>
            <a:off x="502920" y="5888736"/>
            <a:ext cx="4846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A0A0A"/>
                </a:solidFill>
                <a:latin typeface="Arial"/>
              </a:rPr>
              <a:t>PROJECT HANDBOOK AND 3D WORKBENCH — LIVE DEPLOYMENT</a:t>
            </a:r>
          </a:p>
        </p:txBody>
      </p:sp>
      <p:sp>
        <p:nvSpPr>
          <p:cNvPr id="15453" name="TextBox 15452"/>
          <p:cNvSpPr txBox="1"/>
          <p:nvPr/>
        </p:nvSpPr>
        <p:spPr>
          <a:xfrm>
            <a:off x="502920" y="6025896"/>
            <a:ext cx="48463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u="sng">
                <a:solidFill>
                  <a:srgbClr val="0B5FCC"/>
                </a:solidFill>
                <a:latin typeface="Arial"/>
                <a:hlinkClick r:id="rId4"/>
              </a:rPr>
              <a:t>https://zeit-handbook.netlify.app/</a:t>
            </a:r>
          </a:p>
        </p:txBody>
      </p:sp>
      <p:sp>
        <p:nvSpPr>
          <p:cNvPr id="15454" name="TextBox 15453"/>
          <p:cNvSpPr txBox="1"/>
          <p:nvPr/>
        </p:nvSpPr>
        <p:spPr>
          <a:xfrm>
            <a:off x="502920" y="6176772"/>
            <a:ext cx="48463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u="sng">
                <a:solidFill>
                  <a:srgbClr val="0B5FCC"/>
                </a:solidFill>
                <a:latin typeface="Arial"/>
                <a:hlinkClick r:id="rId5"/>
              </a:rPr>
              <a:t>https://zeit-handbook.netlify.app/zeit-bench-3d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ext cx="8686800" cy="0"/>
          </a:xfrm>
        </p:spPr>
        <p:txBody>
          <a:bodyPr/>
          <a:lstStyle/>
          <a:p>
            <a:pPr eaLnBrk="1" hangingPunct="1" algn="l"/>
            <a:r>
              <a:rPr lang="en-US" sz="2700" b="1" dirty="0">
                <a:solidFill>
                  <a:srgbClr val="0A0A0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9184" y="932688"/>
            <a:ext cx="1005840" cy="5486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20040" y="110185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06070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1243584"/>
            <a:ext cx="1094939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C++17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real-time path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689299" y="1243584"/>
            <a:ext cx="1173904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ONNX Runtime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inference on ARM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954643" y="1243584"/>
            <a:ext cx="1170471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PyTorch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training, offline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16554" y="1243584"/>
            <a:ext cx="1125838" cy="438912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GTCRN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23.7 K params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33833" y="1243584"/>
            <a:ext cx="1235703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Aux-IVA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blind separation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760976" y="1243584"/>
            <a:ext cx="1149871" cy="438912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BMRI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impulsive path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02287" y="1243584"/>
            <a:ext cx="1348787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PFFFT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BSD FFT, not GPL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442514" y="1243584"/>
            <a:ext cx="1153305" cy="438912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8 GB, the engine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10687259" y="1243584"/>
            <a:ext cx="971341" cy="438912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2-ch capture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20040" y="1888236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18470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2029968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HARDWARE CHAIN — no development computer in the signal path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2157984"/>
            <a:ext cx="2614946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3 microphones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voice · reference · error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3117866" y="2368296"/>
            <a:ext cx="237744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Isosceles Triangle 17426"/>
          <p:cNvSpPr/>
          <p:nvPr/>
        </p:nvSpPr>
        <p:spPr>
          <a:xfrm rot="5400000">
            <a:off x="3305318" y="23180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3355610" y="2157984"/>
            <a:ext cx="1629491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24-bit, 48 V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985101" y="2368296"/>
            <a:ext cx="237744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Isosceles Triangle 17429"/>
          <p:cNvSpPr/>
          <p:nvPr/>
        </p:nvSpPr>
        <p:spPr>
          <a:xfrm rot="5400000">
            <a:off x="5172553" y="23180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5222845" y="2157984"/>
            <a:ext cx="1901518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blocks 1–11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7124362" y="2368296"/>
            <a:ext cx="237744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Isosceles Triangle 17432"/>
          <p:cNvSpPr/>
          <p:nvPr/>
        </p:nvSpPr>
        <p:spPr>
          <a:xfrm rot="5400000">
            <a:off x="7311814" y="23180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7362106" y="2157984"/>
            <a:ext cx="236345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Communication unit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MELPe 2400 bps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725556" y="2368296"/>
            <a:ext cx="237744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Isosceles Triangle 17435"/>
          <p:cNvSpPr/>
          <p:nvPr/>
        </p:nvSpPr>
        <p:spPr>
          <a:xfrm rot="5400000">
            <a:off x="9913008" y="23180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9963300" y="2157984"/>
            <a:ext cx="169621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Earcups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return audio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2920" y="2706624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LANE B SIGNAL CHAIN — one 20 ms frame, 10 ms hop, 25.3 ms end to end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02920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01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Audio in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856232" y="3090672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Isosceles Triangle 17440"/>
          <p:cNvSpPr/>
          <p:nvPr/>
        </p:nvSpPr>
        <p:spPr>
          <a:xfrm rot="5400000">
            <a:off x="1970532" y="3040380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2020824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02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Aux-IVA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3374136" y="3090672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Isosceles Triangle 17443"/>
          <p:cNvSpPr/>
          <p:nvPr/>
        </p:nvSpPr>
        <p:spPr>
          <a:xfrm rot="5400000">
            <a:off x="3488436" y="3040380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3538728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03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Normalise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4892040" y="3090672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Isosceles Triangle 17446"/>
          <p:cNvSpPr/>
          <p:nvPr/>
        </p:nvSpPr>
        <p:spPr>
          <a:xfrm rot="5400000">
            <a:off x="5006340" y="3040380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5056632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04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STFT + ERB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6409944" y="3090672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Isosceles Triangle 17449"/>
          <p:cNvSpPr/>
          <p:nvPr/>
        </p:nvSpPr>
        <p:spPr>
          <a:xfrm rot="5400000">
            <a:off x="6524244" y="3040380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Diamond 17450"/>
          <p:cNvSpPr/>
          <p:nvPr/>
        </p:nvSpPr>
        <p:spPr>
          <a:xfrm>
            <a:off x="6492240" y="2656332"/>
            <a:ext cx="2194560" cy="868680"/>
          </a:xfrm>
          <a:prstGeom prst="diamond">
            <a:avLst/>
          </a:prstGeom>
          <a:solidFill>
            <a:srgbClr val="DDEBFC"/>
          </a:solidFill>
          <a:ln w="15875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05  Classifier</a:t>
            </a:r>
          </a:p>
          <a:p>
            <a:pPr algn="ctr"/>
            <a:r>
              <a:rPr sz="650" b="0" i="0">
                <a:solidFill>
                  <a:srgbClr val="0A0A0A"/>
                </a:solidFill>
                <a:latin typeface="Arial"/>
              </a:rPr>
              <a:t>kurtosis → γ, β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833104" y="29260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60" b="1" i="0">
                <a:solidFill>
                  <a:srgbClr val="0B5FCC"/>
                </a:solidFill>
                <a:latin typeface="Arial"/>
              </a:rPr>
              <a:t>the adaptive decision — the system retunes per frame rather than being tuned once, offline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7589520" y="3525012"/>
            <a:ext cx="0" cy="132588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4" name="Connector 17453"/>
          <p:cNvCxnSpPr/>
          <p:nvPr/>
        </p:nvCxnSpPr>
        <p:spPr>
          <a:xfrm flipH="1">
            <a:off x="6263640" y="3657600"/>
            <a:ext cx="1325880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 17454"/>
          <p:cNvCxnSpPr/>
          <p:nvPr/>
        </p:nvCxnSpPr>
        <p:spPr>
          <a:xfrm>
            <a:off x="6263640" y="3657600"/>
            <a:ext cx="0" cy="18288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Isosceles Triangle 17455"/>
          <p:cNvSpPr/>
          <p:nvPr/>
        </p:nvSpPr>
        <p:spPr>
          <a:xfrm rot="10800000">
            <a:off x="6204204" y="3781044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57" name="Connector 17456"/>
          <p:cNvCxnSpPr/>
          <p:nvPr/>
        </p:nvCxnSpPr>
        <p:spPr>
          <a:xfrm>
            <a:off x="7589520" y="3657600"/>
            <a:ext cx="150876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 17457"/>
          <p:cNvCxnSpPr/>
          <p:nvPr/>
        </p:nvCxnSpPr>
        <p:spPr>
          <a:xfrm>
            <a:off x="9098280" y="3657600"/>
            <a:ext cx="0" cy="18288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Isosceles Triangle 17458"/>
          <p:cNvSpPr/>
          <p:nvPr/>
        </p:nvSpPr>
        <p:spPr>
          <a:xfrm rot="10800000">
            <a:off x="9038844" y="3781044"/>
            <a:ext cx="118872" cy="118872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5257800" y="34655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0" i="0">
                <a:solidFill>
                  <a:srgbClr val="0B5FCC"/>
                </a:solidFill>
                <a:latin typeface="Arial"/>
              </a:rPr>
              <a:t>impulsive frame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321040" y="3465576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0" i="0">
                <a:solidFill>
                  <a:srgbClr val="0A0A0A"/>
                </a:solidFill>
                <a:latin typeface="Arial"/>
              </a:rPr>
              <a:t>stationary / non-stationary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516636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DDEBFC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06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BMRI — detect and interpolate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800100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07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GTCRN — learned mask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6263640" y="4297680"/>
            <a:ext cx="0" cy="18288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 flipH="1">
            <a:off x="3968496" y="4480560"/>
            <a:ext cx="2295144" cy="0"/>
          </a:xfrm>
          <a:prstGeom prst="line">
            <a:avLst/>
          </a:prstGeom>
          <a:ln w="1905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6" name="Connector 17465"/>
          <p:cNvCxnSpPr/>
          <p:nvPr/>
        </p:nvCxnSpPr>
        <p:spPr>
          <a:xfrm>
            <a:off x="9098280" y="4297680"/>
            <a:ext cx="0" cy="18288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7" name="Connector 17466"/>
          <p:cNvCxnSpPr/>
          <p:nvPr/>
        </p:nvCxnSpPr>
        <p:spPr>
          <a:xfrm flipH="1">
            <a:off x="3968496" y="4480560"/>
            <a:ext cx="5129784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8" name="Connector 17467"/>
          <p:cNvCxnSpPr/>
          <p:nvPr/>
        </p:nvCxnSpPr>
        <p:spPr>
          <a:xfrm>
            <a:off x="3968496" y="4480560"/>
            <a:ext cx="0" cy="18288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Isosceles Triangle 17468"/>
          <p:cNvSpPr/>
          <p:nvPr/>
        </p:nvSpPr>
        <p:spPr>
          <a:xfrm rot="10800000">
            <a:off x="3909060" y="4604004"/>
            <a:ext cx="118872" cy="118872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4160520" y="451713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0" i="0">
                <a:solidFill>
                  <a:srgbClr val="141416"/>
                </a:solidFill>
                <a:latin typeface="Arial"/>
              </a:rPr>
              <a:t>recombine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3291840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08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Deep filter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4645152" y="4882896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Isosceles Triangle 17472"/>
          <p:cNvSpPr/>
          <p:nvPr/>
        </p:nvSpPr>
        <p:spPr>
          <a:xfrm rot="5400000">
            <a:off x="4759452" y="48326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Rounded Rectangle 17473"/>
          <p:cNvSpPr/>
          <p:nvPr/>
        </p:nvSpPr>
        <p:spPr>
          <a:xfrm>
            <a:off x="4809744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09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Voice guard</a:t>
            </a:r>
          </a:p>
        </p:txBody>
      </p:sp>
      <p:cxnSp>
        <p:nvCxnSpPr>
          <p:cNvPr id="17475" name="Connector 17474"/>
          <p:cNvCxnSpPr/>
          <p:nvPr/>
        </p:nvCxnSpPr>
        <p:spPr>
          <a:xfrm>
            <a:off x="6163056" y="4882896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6" name="Isosceles Triangle 17475"/>
          <p:cNvSpPr/>
          <p:nvPr/>
        </p:nvSpPr>
        <p:spPr>
          <a:xfrm rot="5400000">
            <a:off x="6277356" y="48326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Rounded Rectangle 17476"/>
          <p:cNvSpPr/>
          <p:nvPr/>
        </p:nvSpPr>
        <p:spPr>
          <a:xfrm>
            <a:off x="6327648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10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Residual</a:t>
            </a:r>
          </a:p>
        </p:txBody>
      </p:sp>
      <p:cxnSp>
        <p:nvCxnSpPr>
          <p:cNvPr id="17478" name="Connector 17477"/>
          <p:cNvCxnSpPr/>
          <p:nvPr/>
        </p:nvCxnSpPr>
        <p:spPr>
          <a:xfrm>
            <a:off x="7680960" y="4882896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9" name="Isosceles Triangle 17478"/>
          <p:cNvSpPr/>
          <p:nvPr/>
        </p:nvSpPr>
        <p:spPr>
          <a:xfrm rot="5400000">
            <a:off x="7795260" y="48326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Rounded Rectangle 17479"/>
          <p:cNvSpPr/>
          <p:nvPr/>
        </p:nvSpPr>
        <p:spPr>
          <a:xfrm>
            <a:off x="7845552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11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ISTFT</a:t>
            </a:r>
          </a:p>
        </p:txBody>
      </p:sp>
      <p:cxnSp>
        <p:nvCxnSpPr>
          <p:cNvPr id="17481" name="Connector 17480"/>
          <p:cNvCxnSpPr/>
          <p:nvPr/>
        </p:nvCxnSpPr>
        <p:spPr>
          <a:xfrm>
            <a:off x="9198864" y="4882896"/>
            <a:ext cx="164592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2" name="Isosceles Triangle 17481"/>
          <p:cNvSpPr/>
          <p:nvPr/>
        </p:nvSpPr>
        <p:spPr>
          <a:xfrm rot="5400000">
            <a:off x="9313164" y="4832604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Rounded Rectangle 17482"/>
          <p:cNvSpPr/>
          <p:nvPr/>
        </p:nvSpPr>
        <p:spPr>
          <a:xfrm>
            <a:off x="9363456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41416"/>
                </a:solidFill>
                <a:latin typeface="Arial"/>
              </a:rPr>
              <a:t>→</a:t>
            </a:r>
          </a:p>
          <a:p>
            <a:pPr algn="ctr"/>
            <a:r>
              <a:rPr sz="800" b="1">
                <a:solidFill>
                  <a:srgbClr val="0A0A0A"/>
                </a:solidFill>
                <a:latin typeface="Arial"/>
              </a:rPr>
              <a:t>Radio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02920" y="3785616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B5FCC"/>
                </a:solidFill>
                <a:latin typeface="Arial"/>
              </a:rPr>
              <a:t>LANE A CONTROL LOOP — SEPARATE MODULE, CLOSES IN UNDER 1 ms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502920" y="3986784"/>
            <a:ext cx="1143000" cy="365760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Mic 2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reference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1920240" y="3986784"/>
            <a:ext cx="1143000" cy="365760"/>
          </a:xfrm>
          <a:prstGeom prst="roundRect">
            <a:avLst>
              <a:gd name="adj" fmla="val 14000"/>
            </a:avLst>
          </a:prstGeom>
          <a:solidFill>
            <a:srgbClr val="DDEBFC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FxLMS W(z)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filtered-x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3337560" y="3986784"/>
            <a:ext cx="11430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Driver → ear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anti-noise</a:t>
            </a:r>
          </a:p>
        </p:txBody>
      </p:sp>
      <p:cxnSp>
        <p:nvCxnSpPr>
          <p:cNvPr id="17488" name="Connector 17487"/>
          <p:cNvCxnSpPr/>
          <p:nvPr/>
        </p:nvCxnSpPr>
        <p:spPr>
          <a:xfrm>
            <a:off x="1645920" y="4169664"/>
            <a:ext cx="274320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9" name="Isosceles Triangle 17488"/>
          <p:cNvSpPr/>
          <p:nvPr/>
        </p:nvSpPr>
        <p:spPr>
          <a:xfrm rot="5400000">
            <a:off x="1874520" y="4123944"/>
            <a:ext cx="91440" cy="91440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90" name="Connector 17489"/>
          <p:cNvCxnSpPr/>
          <p:nvPr/>
        </p:nvCxnSpPr>
        <p:spPr>
          <a:xfrm>
            <a:off x="3063240" y="4169664"/>
            <a:ext cx="274320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1" name="Isosceles Triangle 17490"/>
          <p:cNvSpPr/>
          <p:nvPr/>
        </p:nvSpPr>
        <p:spPr>
          <a:xfrm rot="5400000">
            <a:off x="3291840" y="4123944"/>
            <a:ext cx="91440" cy="91440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92" name="Connector 17491"/>
          <p:cNvCxnSpPr/>
          <p:nvPr/>
        </p:nvCxnSpPr>
        <p:spPr>
          <a:xfrm>
            <a:off x="3909060" y="4352544"/>
            <a:ext cx="0" cy="18288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3" name="Connector 17492"/>
          <p:cNvCxnSpPr/>
          <p:nvPr/>
        </p:nvCxnSpPr>
        <p:spPr>
          <a:xfrm flipH="1">
            <a:off x="1074420" y="4535424"/>
            <a:ext cx="2834640" cy="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4" name="Connector 17493"/>
          <p:cNvCxnSpPr/>
          <p:nvPr/>
        </p:nvCxnSpPr>
        <p:spPr>
          <a:xfrm>
            <a:off x="1074420" y="4535424"/>
            <a:ext cx="0" cy="36576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5" name="Isosceles Triangle 17494"/>
          <p:cNvSpPr/>
          <p:nvPr/>
        </p:nvSpPr>
        <p:spPr>
          <a:xfrm rot="10800000">
            <a:off x="1028700" y="4526280"/>
            <a:ext cx="91440" cy="91440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Rounded Rectangle 17495"/>
          <p:cNvSpPr/>
          <p:nvPr/>
        </p:nvSpPr>
        <p:spPr>
          <a:xfrm>
            <a:off x="502920" y="4572000"/>
            <a:ext cx="1143000" cy="329184"/>
          </a:xfrm>
          <a:prstGeom prst="roundRect">
            <a:avLst>
              <a:gd name="adj" fmla="val 14000"/>
            </a:avLst>
          </a:prstGeom>
          <a:solidFill>
            <a:srgbClr val="E9F0F6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Mic 3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in-ear error</a:t>
            </a:r>
          </a:p>
        </p:txBody>
      </p:sp>
      <p:cxnSp>
        <p:nvCxnSpPr>
          <p:cNvPr id="17497" name="Connector 17496"/>
          <p:cNvCxnSpPr/>
          <p:nvPr/>
        </p:nvCxnSpPr>
        <p:spPr>
          <a:xfrm>
            <a:off x="1645920" y="4736592"/>
            <a:ext cx="845820" cy="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8" name="Connector 17497"/>
          <p:cNvCxnSpPr/>
          <p:nvPr/>
        </p:nvCxnSpPr>
        <p:spPr>
          <a:xfrm flipV="1">
            <a:off x="2491740" y="4389120"/>
            <a:ext cx="0" cy="347472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9" name="Isosceles Triangle 17498"/>
          <p:cNvSpPr/>
          <p:nvPr/>
        </p:nvSpPr>
        <p:spPr>
          <a:xfrm>
            <a:off x="2446020" y="4343400"/>
            <a:ext cx="91440" cy="91440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0" name="TextBox 17499"/>
          <p:cNvSpPr txBox="1"/>
          <p:nvPr/>
        </p:nvSpPr>
        <p:spPr>
          <a:xfrm>
            <a:off x="1700784" y="47548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B5FCC"/>
                </a:solidFill>
                <a:latin typeface="Arial"/>
              </a:rPr>
              <a:t>error — the residual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502920" y="5230368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OFFLINE PIPELINE — none of this ships; it shapes the weights that do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502920" y="5376672"/>
            <a:ext cx="1506622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Range capture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96 kHz · calibrated</a:t>
            </a:r>
          </a:p>
        </p:txBody>
      </p:sp>
      <p:cxnSp>
        <p:nvCxnSpPr>
          <p:cNvPr id="17503" name="Connector 17502"/>
          <p:cNvCxnSpPr/>
          <p:nvPr/>
        </p:nvCxnSpPr>
        <p:spPr>
          <a:xfrm>
            <a:off x="2009542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4" name="Isosceles Triangle 17503"/>
          <p:cNvSpPr/>
          <p:nvPr/>
        </p:nvSpPr>
        <p:spPr>
          <a:xfrm rot="5400000">
            <a:off x="2087266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5" name="Rounded Rectangle 17504"/>
          <p:cNvSpPr/>
          <p:nvPr/>
        </p:nvSpPr>
        <p:spPr>
          <a:xfrm>
            <a:off x="2128414" y="5376672"/>
            <a:ext cx="1158345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Measure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16 quantities</a:t>
            </a:r>
          </a:p>
        </p:txBody>
      </p:sp>
      <p:cxnSp>
        <p:nvCxnSpPr>
          <p:cNvPr id="17506" name="Connector 17505"/>
          <p:cNvCxnSpPr/>
          <p:nvPr/>
        </p:nvCxnSpPr>
        <p:spPr>
          <a:xfrm>
            <a:off x="3286759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7" name="Isosceles Triangle 17506"/>
          <p:cNvSpPr/>
          <p:nvPr/>
        </p:nvSpPr>
        <p:spPr>
          <a:xfrm rot="5400000">
            <a:off x="3364483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8" name="Rounded Rectangle 17507"/>
          <p:cNvSpPr/>
          <p:nvPr/>
        </p:nvSpPr>
        <p:spPr>
          <a:xfrm>
            <a:off x="3405631" y="5376672"/>
            <a:ext cx="1321734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Validate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against holdout</a:t>
            </a:r>
          </a:p>
        </p:txBody>
      </p:sp>
      <p:cxnSp>
        <p:nvCxnSpPr>
          <p:cNvPr id="17509" name="Connector 17508"/>
          <p:cNvCxnSpPr/>
          <p:nvPr/>
        </p:nvCxnSpPr>
        <p:spPr>
          <a:xfrm>
            <a:off x="4727365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0" name="Isosceles Triangle 17509"/>
          <p:cNvSpPr/>
          <p:nvPr/>
        </p:nvSpPr>
        <p:spPr>
          <a:xfrm rot="5400000">
            <a:off x="4805089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1" name="Rounded Rectangle 17510"/>
          <p:cNvSpPr/>
          <p:nvPr/>
        </p:nvSpPr>
        <p:spPr>
          <a:xfrm>
            <a:off x="4846237" y="5376672"/>
            <a:ext cx="1270138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Mix + augment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α-stable, clipped</a:t>
            </a:r>
          </a:p>
        </p:txBody>
      </p:sp>
      <p:cxnSp>
        <p:nvCxnSpPr>
          <p:cNvPr id="17512" name="Connector 17511"/>
          <p:cNvCxnSpPr/>
          <p:nvPr/>
        </p:nvCxnSpPr>
        <p:spPr>
          <a:xfrm>
            <a:off x="6116375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3" name="Isosceles Triangle 17512"/>
          <p:cNvSpPr/>
          <p:nvPr/>
        </p:nvSpPr>
        <p:spPr>
          <a:xfrm rot="5400000">
            <a:off x="6194099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4" name="Rounded Rectangle 17513"/>
          <p:cNvSpPr/>
          <p:nvPr/>
        </p:nvSpPr>
        <p:spPr>
          <a:xfrm>
            <a:off x="6235247" y="5376672"/>
            <a:ext cx="1106748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Train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SI-SNR + L1</a:t>
            </a:r>
          </a:p>
        </p:txBody>
      </p:sp>
      <p:cxnSp>
        <p:nvCxnSpPr>
          <p:cNvPr id="17515" name="Connector 17514"/>
          <p:cNvCxnSpPr/>
          <p:nvPr/>
        </p:nvCxnSpPr>
        <p:spPr>
          <a:xfrm>
            <a:off x="7341995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6" name="Isosceles Triangle 17515"/>
          <p:cNvSpPr/>
          <p:nvPr/>
        </p:nvSpPr>
        <p:spPr>
          <a:xfrm rot="5400000">
            <a:off x="7419719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7" name="Rounded Rectangle 17516"/>
          <p:cNvSpPr/>
          <p:nvPr/>
        </p:nvSpPr>
        <p:spPr>
          <a:xfrm>
            <a:off x="7460867" y="5376672"/>
            <a:ext cx="1412028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Prune + quantise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structured, INT8</a:t>
            </a:r>
          </a:p>
        </p:txBody>
      </p:sp>
      <p:cxnSp>
        <p:nvCxnSpPr>
          <p:cNvPr id="17518" name="Connector 17517"/>
          <p:cNvCxnSpPr/>
          <p:nvPr/>
        </p:nvCxnSpPr>
        <p:spPr>
          <a:xfrm>
            <a:off x="8872896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9" name="Isosceles Triangle 17518"/>
          <p:cNvSpPr/>
          <p:nvPr/>
        </p:nvSpPr>
        <p:spPr>
          <a:xfrm rot="5400000">
            <a:off x="8950620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0" name="Rounded Rectangle 17519"/>
          <p:cNvSpPr/>
          <p:nvPr/>
        </p:nvSpPr>
        <p:spPr>
          <a:xfrm>
            <a:off x="8991768" y="5376672"/>
            <a:ext cx="1480824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Export ONNX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the only boundary</a:t>
            </a:r>
          </a:p>
        </p:txBody>
      </p:sp>
      <p:cxnSp>
        <p:nvCxnSpPr>
          <p:cNvPr id="17521" name="Connector 17520"/>
          <p:cNvCxnSpPr/>
          <p:nvPr/>
        </p:nvCxnSpPr>
        <p:spPr>
          <a:xfrm>
            <a:off x="10472592" y="5577840"/>
            <a:ext cx="118872" cy="0"/>
          </a:xfrm>
          <a:prstGeom prst="line">
            <a:avLst/>
          </a:prstGeom>
          <a:ln w="15240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2" name="Isosceles Triangle 17521"/>
          <p:cNvSpPr/>
          <p:nvPr/>
        </p:nvSpPr>
        <p:spPr>
          <a:xfrm rot="5400000">
            <a:off x="10550316" y="5536692"/>
            <a:ext cx="82296" cy="82296"/>
          </a:xfrm>
          <a:prstGeom prst="triangle">
            <a:avLst/>
          </a:prstGeom>
          <a:solidFill>
            <a:srgbClr val="BF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3" name="Rounded Rectangle 17522"/>
          <p:cNvSpPr/>
          <p:nvPr/>
        </p:nvSpPr>
        <p:spPr>
          <a:xfrm>
            <a:off x="10591464" y="5376672"/>
            <a:ext cx="1068051" cy="4023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 w="12700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C++ engine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0A0A0A"/>
                </a:solidFill>
                <a:latin typeface="Arial"/>
              </a:rPr>
              <a:t>parity-tested</a:t>
            </a:r>
          </a:p>
        </p:txBody>
      </p:sp>
      <p:cxnSp>
        <p:nvCxnSpPr>
          <p:cNvPr id="17524" name="Connector 17523"/>
          <p:cNvCxnSpPr/>
          <p:nvPr/>
        </p:nvCxnSpPr>
        <p:spPr>
          <a:xfrm>
            <a:off x="4066498" y="5779008"/>
            <a:ext cx="0" cy="146304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5" name="Connector 17524"/>
          <p:cNvCxnSpPr/>
          <p:nvPr/>
        </p:nvCxnSpPr>
        <p:spPr>
          <a:xfrm flipH="1">
            <a:off x="2707587" y="5925312"/>
            <a:ext cx="1358911" cy="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6" name="Connector 17525"/>
          <p:cNvCxnSpPr/>
          <p:nvPr/>
        </p:nvCxnSpPr>
        <p:spPr>
          <a:xfrm flipV="1">
            <a:off x="2707587" y="5779008"/>
            <a:ext cx="0" cy="146304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7" name="Isosceles Triangle 17526"/>
          <p:cNvSpPr/>
          <p:nvPr/>
        </p:nvSpPr>
        <p:spPr>
          <a:xfrm>
            <a:off x="2648151" y="5719572"/>
            <a:ext cx="118872" cy="118872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8" name="TextBox 17527"/>
          <p:cNvSpPr txBox="1"/>
          <p:nvPr/>
        </p:nvSpPr>
        <p:spPr>
          <a:xfrm>
            <a:off x="1290267" y="5943600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0B5FCC"/>
                </a:solidFill>
                <a:latin typeface="Arial"/>
              </a:rPr>
              <a:t>mismatch → retune the generator</a:t>
            </a:r>
          </a:p>
        </p:txBody>
      </p:sp>
      <p:sp>
        <p:nvSpPr>
          <p:cNvPr id="17529" name="TextBox 17528"/>
          <p:cNvSpPr txBox="1"/>
          <p:nvPr/>
        </p:nvSpPr>
        <p:spPr>
          <a:xfrm>
            <a:off x="5669280" y="5852160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25.3 ms algorithmic  ·  10 ms compute per hop  ·  under 1 ms Lane A  ·  39.6 MMAC/s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6583680" y="6053328"/>
            <a:ext cx="5303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 i="0">
                <a:solidFill>
                  <a:srgbClr val="0A0A0A"/>
                </a:solidFill>
                <a:latin typeface="Arial"/>
              </a:rPr>
              <a:t>SOURCE CODE — EVERY FIGURE IN THIS DECK IS REPRODUCIBLE FROM IT</a:t>
            </a:r>
          </a:p>
        </p:txBody>
      </p:sp>
      <p:sp>
        <p:nvSpPr>
          <p:cNvPr id="17531" name="TextBox 17530"/>
          <p:cNvSpPr txBox="1"/>
          <p:nvPr/>
        </p:nvSpPr>
        <p:spPr>
          <a:xfrm>
            <a:off x="6583680" y="6190488"/>
            <a:ext cx="53035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 u="sng">
                <a:solidFill>
                  <a:srgbClr val="0B5FCC"/>
                </a:solidFill>
                <a:latin typeface="Arial"/>
                <a:hlinkClick r:id="rId4"/>
              </a:rPr>
              <a:t>https://github.com/Sarthakk1407/Zeit_at_SIH.git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ext cx="8686800" cy="0"/>
          </a:xfrm>
        </p:spPr>
        <p:txBody>
          <a:bodyPr/>
          <a:lstStyle/>
          <a:p>
            <a:pPr eaLnBrk="1" hangingPunct="1" algn="l"/>
            <a:r>
              <a:rPr lang="en-US" sz="2700" b="1" dirty="0">
                <a:solidFill>
                  <a:srgbClr val="0A0A0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9184" y="932688"/>
            <a:ext cx="1005840" cy="5486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0040" y="1120140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2801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67512" y="135331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23.7 K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67512" y="1719072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1416"/>
                </a:solidFill>
                <a:latin typeface="Arial"/>
              </a:rPr>
              <a:t>parameters in the neural core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67512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41416"/>
                </a:solidFill>
                <a:latin typeface="Arial"/>
              </a:rPr>
              <a:t>GTCRN · ICASSP 2024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37560" y="12801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502152" y="135331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25.3 ms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502152" y="1719072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1416"/>
                </a:solidFill>
                <a:latin typeface="Arial"/>
              </a:rPr>
              <a:t>Lane B, end to end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502152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41416"/>
                </a:solidFill>
                <a:latin typeface="Arial"/>
              </a:rPr>
              <a:t>20 ms frame · 10 ms hop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2200" y="12801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336792" y="135331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&lt; 1 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36792" y="1719072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1416"/>
                </a:solidFill>
                <a:latin typeface="Arial"/>
              </a:rPr>
              <a:t>Lane A loop, closed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336792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41416"/>
                </a:solidFill>
                <a:latin typeface="Arial"/>
              </a:rPr>
              <a:t>anti-noise beats the wavefront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006840" y="1280160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171432" y="135331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~₹12 k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171432" y="1719072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1416"/>
                </a:solidFill>
                <a:latin typeface="Arial"/>
              </a:rPr>
              <a:t>prototype bill of materials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171432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41416"/>
                </a:solidFill>
                <a:latin typeface="Arial"/>
              </a:rPr>
              <a:t>Pi 5 · UMC202HD · cooler · PSU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02920" y="2139696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VERIFICATION CHAIN — EVERY NUMBER IN THIS DECK TRACES BACK TO A CHECKSUMMED ARTEFACT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02920" y="2304288"/>
            <a:ext cx="1229417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Capture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96 kHz · 24-bit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1732337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Isosceles Triangle 17432"/>
          <p:cNvSpPr/>
          <p:nvPr/>
        </p:nvSpPr>
        <p:spPr>
          <a:xfrm rot="5400000">
            <a:off x="1883213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1933505" y="2304288"/>
            <a:ext cx="1488091" cy="420624"/>
          </a:xfrm>
          <a:prstGeom prst="roundRect">
            <a:avLst>
              <a:gd name="adj" fmla="val 14000"/>
            </a:avLst>
          </a:prstGeom>
          <a:solidFill>
            <a:srgbClr val="DDEBFC"/>
          </a:solidFill>
          <a:ln w="12700">
            <a:solidFill>
              <a:srgbClr val="0B5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GO / NO-GO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after every 3 shots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3421596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Isosceles Triangle 17435"/>
          <p:cNvSpPr/>
          <p:nvPr/>
        </p:nvSpPr>
        <p:spPr>
          <a:xfrm rot="5400000">
            <a:off x="3572472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3622764" y="2304288"/>
            <a:ext cx="1387496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Calibrate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absolute dB SPL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5010260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Isosceles Triangle 17438"/>
          <p:cNvSpPr/>
          <p:nvPr/>
        </p:nvSpPr>
        <p:spPr>
          <a:xfrm rot="5400000">
            <a:off x="5161136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5211428" y="2304288"/>
            <a:ext cx="151324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Measure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54 quantities / shot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6724667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Isosceles Triangle 17441"/>
          <p:cNvSpPr/>
          <p:nvPr/>
        </p:nvSpPr>
        <p:spPr>
          <a:xfrm rot="5400000">
            <a:off x="6875543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6925835" y="2304288"/>
            <a:ext cx="1735986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Freeze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SHA-256 data + engine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8661822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Isosceles Triangle 17444"/>
          <p:cNvSpPr/>
          <p:nvPr/>
        </p:nvSpPr>
        <p:spPr>
          <a:xfrm rot="5400000">
            <a:off x="8812698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8862990" y="2304288"/>
            <a:ext cx="1538388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Compare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against the holdout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10401378" y="2514600"/>
            <a:ext cx="201168" cy="0"/>
          </a:xfrm>
          <a:prstGeom prst="line">
            <a:avLst/>
          </a:prstGeom>
          <a:ln w="19050">
            <a:solidFill>
              <a:srgbClr val="14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Isosceles Triangle 17447"/>
          <p:cNvSpPr/>
          <p:nvPr/>
        </p:nvSpPr>
        <p:spPr>
          <a:xfrm rot="5400000">
            <a:off x="10552254" y="2464308"/>
            <a:ext cx="100584" cy="100584"/>
          </a:xfrm>
          <a:prstGeom prst="triangle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10602546" y="2304288"/>
            <a:ext cx="1056968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Reproduce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0A0A0A"/>
                </a:solidFill>
                <a:latin typeface="Arial"/>
              </a:rPr>
              <a:t>by config hash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2677551" y="2724912"/>
            <a:ext cx="0" cy="109728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H="1">
            <a:off x="1117629" y="2834640"/>
            <a:ext cx="1559922" cy="0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 flipV="1">
            <a:off x="1117629" y="2724912"/>
            <a:ext cx="0" cy="109728"/>
          </a:xfrm>
          <a:prstGeom prst="line">
            <a:avLst/>
          </a:prstGeom>
          <a:ln w="15875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Isosceles Triangle 17452"/>
          <p:cNvSpPr/>
          <p:nvPr/>
        </p:nvSpPr>
        <p:spPr>
          <a:xfrm>
            <a:off x="1071909" y="2679192"/>
            <a:ext cx="91440" cy="91440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843309" y="2834640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0B5FCC"/>
                </a:solidFill>
                <a:latin typeface="Arial"/>
              </a:rPr>
              <a:t>reject → re-shoot, on site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320040" y="3040380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502920" y="2999232"/>
            <a:ext cx="7680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PROOF OF EXECUTION — LIVE-RANGE GUNSHOT CAPTURE (OUR OWN DATA)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275320" y="299008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5FCC"/>
                </a:solidFill>
                <a:latin typeface="Arial"/>
              </a:rPr>
              <a:t>PRIMARY DATA · NOT A PUBLIC DATASET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457200" y="3172968"/>
            <a:ext cx="1828800" cy="1115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pic>
        <p:nvPicPr>
          <p:cNvPr id="17459" name="Picture 17458" descr="field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18688"/>
            <a:ext cx="1737360" cy="1024128"/>
          </a:xfrm>
          <a:prstGeom prst="rect">
            <a:avLst/>
          </a:prstGeom>
        </p:spPr>
      </p:pic>
      <p:sp>
        <p:nvSpPr>
          <p:cNvPr id="17460" name="Rounded Rectangle 17459"/>
          <p:cNvSpPr/>
          <p:nvPr/>
        </p:nvSpPr>
        <p:spPr>
          <a:xfrm>
            <a:off x="2313432" y="3172968"/>
            <a:ext cx="1828800" cy="1115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pic>
        <p:nvPicPr>
          <p:cNvPr id="17461" name="Picture 17460" descr="field-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3218688"/>
            <a:ext cx="1737360" cy="1024128"/>
          </a:xfrm>
          <a:prstGeom prst="rect">
            <a:avLst/>
          </a:prstGeom>
        </p:spPr>
      </p:pic>
      <p:sp>
        <p:nvSpPr>
          <p:cNvPr id="17462" name="Rounded Rectangle 17461"/>
          <p:cNvSpPr/>
          <p:nvPr/>
        </p:nvSpPr>
        <p:spPr>
          <a:xfrm>
            <a:off x="4169664" y="3172968"/>
            <a:ext cx="1828800" cy="1115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pic>
        <p:nvPicPr>
          <p:cNvPr id="17463" name="Picture 17462" descr="field-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3218688"/>
            <a:ext cx="1737360" cy="1024128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502920" y="4297680"/>
            <a:ext cx="5449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Indoor range · staggered-gain two-channel rig · captured live on the ZEIT toolkit laptop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6227064" y="3218688"/>
            <a:ext cx="5687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B5FCC"/>
                </a:solidFill>
                <a:latin typeface="Arial"/>
              </a:rPr>
              <a:t>WHY THE RECORDING IS USABLE, NOT JUST DRAMATIC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6227064" y="3488436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6391656" y="3438144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2-channel staggered gain 18–24 dB apart — the cold channel survives the clip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6227064" y="3685032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6391656" y="3634740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96 kHz · 24-bit uncompressed WAV · limiter and high-pass OFF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227064" y="3881628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6391656" y="3831336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Calibrated to absolute dB SPL with a reference tone, not relative dBFS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6227064" y="40782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6391656" y="4027932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54 quantities measured per shot · 16 categories · frozen signature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6227064" y="4274820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6391656" y="4224528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Holdout split assigned before the first shot · SHA-256 freezes data + engine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6227064" y="4471416"/>
            <a:ext cx="68580" cy="68580"/>
          </a:xfrm>
          <a:prstGeom prst="roundRect">
            <a:avLst>
              <a:gd name="adj" fmla="val 50000"/>
            </a:avLst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6391656" y="4421124"/>
            <a:ext cx="5522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41416"/>
                </a:solidFill>
                <a:latin typeface="Arial"/>
              </a:rPr>
              <a:t>GO / NO-GO validation after every three shots — a range is not repeatable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320040" y="4722876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502920" y="468172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5852160" y="4722876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6035040" y="4681728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502920" y="4882896"/>
            <a:ext cx="4983480" cy="2743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603504" y="4924044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A0A0A"/>
                </a:solidFill>
                <a:latin typeface="Arial"/>
              </a:rPr>
              <a:t>One-shot range access — nothing is repeatable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5577840" y="5020056"/>
            <a:ext cx="310896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Isosceles Triangle 17484"/>
          <p:cNvSpPr/>
          <p:nvPr/>
        </p:nvSpPr>
        <p:spPr>
          <a:xfrm rot="5400000">
            <a:off x="5838444" y="4969764"/>
            <a:ext cx="100584" cy="100584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6035040" y="4924044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41416"/>
                </a:solidFill>
                <a:latin typeface="Arial"/>
              </a:rPr>
              <a:t>GO / NO-GO after every three shots catches a bad take on site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502920" y="5175504"/>
            <a:ext cx="4983480" cy="2743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88" name="TextBox 17487"/>
          <p:cNvSpPr txBox="1"/>
          <p:nvPr/>
        </p:nvSpPr>
        <p:spPr>
          <a:xfrm>
            <a:off x="603504" y="5216652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A0A0A"/>
                </a:solidFill>
                <a:latin typeface="Arial"/>
              </a:rPr>
              <a:t>The microphone clips on the blast, irreversibly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5577840" y="5312664"/>
            <a:ext cx="310896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0" name="Isosceles Triangle 17489"/>
          <p:cNvSpPr/>
          <p:nvPr/>
        </p:nvSpPr>
        <p:spPr>
          <a:xfrm rot="5400000">
            <a:off x="5838444" y="5262372"/>
            <a:ext cx="100584" cy="100584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6035040" y="5216652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41416"/>
                </a:solidFill>
                <a:latin typeface="Arial"/>
              </a:rPr>
              <a:t>Staggered-gain pair 18–24 dB apart; the cold channel always survives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502920" y="5468112"/>
            <a:ext cx="4983480" cy="2743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93" name="TextBox 17492"/>
          <p:cNvSpPr txBox="1"/>
          <p:nvPr/>
        </p:nvSpPr>
        <p:spPr>
          <a:xfrm>
            <a:off x="603504" y="5509260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A0A0A"/>
                </a:solidFill>
                <a:latin typeface="Arial"/>
              </a:rPr>
              <a:t>The Pi 5 throttles and latency drifts</a:t>
            </a:r>
          </a:p>
        </p:txBody>
      </p:sp>
      <p:cxnSp>
        <p:nvCxnSpPr>
          <p:cNvPr id="17494" name="Connector 17493"/>
          <p:cNvCxnSpPr/>
          <p:nvPr/>
        </p:nvCxnSpPr>
        <p:spPr>
          <a:xfrm>
            <a:off x="5577840" y="5605272"/>
            <a:ext cx="310896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5" name="Isosceles Triangle 17494"/>
          <p:cNvSpPr/>
          <p:nvPr/>
        </p:nvSpPr>
        <p:spPr>
          <a:xfrm rot="5400000">
            <a:off x="5838444" y="5554980"/>
            <a:ext cx="100584" cy="100584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TextBox 17495"/>
          <p:cNvSpPr txBox="1"/>
          <p:nvPr/>
        </p:nvSpPr>
        <p:spPr>
          <a:xfrm>
            <a:off x="6035040" y="5509260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41416"/>
                </a:solidFill>
                <a:latin typeface="Arial"/>
              </a:rPr>
              <a:t>Official cooler and 27 W supply are mandatory parts, not accessories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502920" y="5760720"/>
            <a:ext cx="4983480" cy="2743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98" name="TextBox 17497"/>
          <p:cNvSpPr txBox="1"/>
          <p:nvPr/>
        </p:nvSpPr>
        <p:spPr>
          <a:xfrm>
            <a:off x="603504" y="5801868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A0A0A"/>
                </a:solidFill>
                <a:latin typeface="Arial"/>
              </a:rPr>
              <a:t>Targets move with input SNR</a:t>
            </a:r>
          </a:p>
        </p:txBody>
      </p:sp>
      <p:cxnSp>
        <p:nvCxnSpPr>
          <p:cNvPr id="17499" name="Connector 17498"/>
          <p:cNvCxnSpPr/>
          <p:nvPr/>
        </p:nvCxnSpPr>
        <p:spPr>
          <a:xfrm>
            <a:off x="5577840" y="5897880"/>
            <a:ext cx="310896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0" name="Isosceles Triangle 17499"/>
          <p:cNvSpPr/>
          <p:nvPr/>
        </p:nvSpPr>
        <p:spPr>
          <a:xfrm rot="5400000">
            <a:off x="5838444" y="5847588"/>
            <a:ext cx="100584" cy="100584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1" name="TextBox 17500"/>
          <p:cNvSpPr txBox="1"/>
          <p:nvPr/>
        </p:nvSpPr>
        <p:spPr>
          <a:xfrm>
            <a:off x="6035040" y="5801868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41416"/>
                </a:solidFill>
                <a:latin typeface="Arial"/>
              </a:rPr>
              <a:t>Reported as curves against input SNR, with the crossing point stated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502920" y="6053328"/>
            <a:ext cx="4983480" cy="2743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503" name="TextBox 17502"/>
          <p:cNvSpPr txBox="1"/>
          <p:nvPr/>
        </p:nvSpPr>
        <p:spPr>
          <a:xfrm>
            <a:off x="603504" y="609447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A0A0A"/>
                </a:solidFill>
                <a:latin typeface="Arial"/>
              </a:rPr>
              <a:t>A denoiser can be judged in the wrong place</a:t>
            </a:r>
          </a:p>
        </p:txBody>
      </p:sp>
      <p:cxnSp>
        <p:nvCxnSpPr>
          <p:cNvPr id="17504" name="Connector 17503"/>
          <p:cNvCxnSpPr/>
          <p:nvPr/>
        </p:nvCxnSpPr>
        <p:spPr>
          <a:xfrm>
            <a:off x="5577840" y="6190488"/>
            <a:ext cx="310896" cy="0"/>
          </a:xfrm>
          <a:prstGeom prst="line">
            <a:avLst/>
          </a:prstGeom>
          <a:ln w="17780">
            <a:solidFill>
              <a:srgbClr val="0B5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5" name="Isosceles Triangle 17504"/>
          <p:cNvSpPr/>
          <p:nvPr/>
        </p:nvSpPr>
        <p:spPr>
          <a:xfrm rot="5400000">
            <a:off x="5838444" y="6140196"/>
            <a:ext cx="100584" cy="100584"/>
          </a:xfrm>
          <a:prstGeom prst="triangle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6" name="TextBox 17505"/>
          <p:cNvSpPr txBox="1"/>
          <p:nvPr/>
        </p:nvSpPr>
        <p:spPr>
          <a:xfrm>
            <a:off x="6035040" y="6094476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41416"/>
                </a:solidFill>
                <a:latin typeface="Arial"/>
              </a:rPr>
              <a:t>The MELPe vocoder sits inside the evaluation chain — measured twice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ext cx="8686800" cy="0"/>
          </a:xfrm>
        </p:spPr>
        <p:txBody>
          <a:bodyPr/>
          <a:lstStyle/>
          <a:p>
            <a:pPr eaLnBrk="1" hangingPunct="1" algn="l"/>
            <a:r>
              <a:rPr lang="en-US" sz="2700" b="1" dirty="0">
                <a:solidFill>
                  <a:srgbClr val="0A0A0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9184" y="932688"/>
            <a:ext cx="1005840" cy="5486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0040" y="110185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06070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280160"/>
            <a:ext cx="3602736" cy="1810512"/>
          </a:xfrm>
          <a:prstGeom prst="roundRect">
            <a:avLst>
              <a:gd name="adj" fmla="val 5000"/>
            </a:avLst>
          </a:prstGeom>
          <a:solidFill>
            <a:srgbClr val="D9F1E3"/>
          </a:solidFill>
          <a:ln w="15875">
            <a:solidFill>
              <a:srgbClr val="0E7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94360" y="1344168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E7A4E"/>
                </a:solidFill>
                <a:latin typeface="Arial"/>
              </a:rPr>
              <a:t>THE SOLDIER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9224" y="151790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7A4E"/>
                </a:solidFill>
                <a:latin typeface="Arial"/>
              </a:rPr>
              <a:t>140 dB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819656" y="159105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1" i="0">
                <a:solidFill>
                  <a:srgbClr val="0A0A0A"/>
                </a:solidFill>
                <a:latin typeface="Arial"/>
              </a:rPr>
              <a:t>MIL-STD-1474 ceiling at the ear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649224" y="1933956"/>
            <a:ext cx="73152" cy="73152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13816" y="1883664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Hearing protected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Lane A cancels at the eardrum in under 1 ms, before any processing happens.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49224" y="2281428"/>
            <a:ext cx="73152" cy="73152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13816" y="2231136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Voice still gets out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commands survive the gunfire that used to bury them.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49224" y="2628900"/>
            <a:ext cx="73152" cy="73152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13816" y="2578608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Situational awareness kept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listening mode preserves ambient sound; combat mode protects the voice.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79392" y="1280160"/>
            <a:ext cx="3602736" cy="1810512"/>
          </a:xfrm>
          <a:prstGeom prst="roundRect">
            <a:avLst>
              <a:gd name="adj" fmla="val 5000"/>
            </a:avLst>
          </a:prstGeom>
          <a:solidFill>
            <a:srgbClr val="DDEBFC"/>
          </a:solidFill>
          <a:ln w="15875">
            <a:solidFill>
              <a:srgbClr val="0B5F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370832" y="1344168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B5FCC"/>
                </a:solidFill>
                <a:latin typeface="Arial"/>
              </a:rPr>
              <a:t>THE UNIT AND ITS COMMANDER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25696" y="151790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B5FCC"/>
                </a:solidFill>
                <a:latin typeface="Arial"/>
              </a:rPr>
              <a:t>~200 ms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596128" y="159105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1" i="0">
                <a:solidFill>
                  <a:srgbClr val="0A0A0A"/>
                </a:solidFill>
                <a:latin typeface="Arial"/>
              </a:rPr>
              <a:t>of speech a single shot destroys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4425696" y="1933956"/>
            <a:ext cx="73152" cy="73152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590288" y="1883664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Fewer repeats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a command lands on the first transmission instead of the third.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4425696" y="2281428"/>
            <a:ext cx="73152" cy="73152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590288" y="2231136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Measured, not asserted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words lost per shot is a number, reported per weapon and per distance.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425696" y="2628900"/>
            <a:ext cx="73152" cy="73152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590288" y="2578608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Works on the issued radio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MELPe 2400 bps, no new waveform to certify.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55864" y="1280160"/>
            <a:ext cx="3602736" cy="1810512"/>
          </a:xfrm>
          <a:prstGeom prst="roundRect">
            <a:avLst>
              <a:gd name="adj" fmla="val 5000"/>
            </a:avLst>
          </a:prstGeom>
          <a:solidFill>
            <a:srgbClr val="FDEAD3"/>
          </a:solidFill>
          <a:ln w="15875">
            <a:solidFill>
              <a:srgbClr val="C25E0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147304" y="1344168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25E07"/>
                </a:solidFill>
                <a:latin typeface="Arial"/>
              </a:rPr>
              <a:t>INDIAN DEFENCE INDUSTRY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202168" y="151790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5E07"/>
                </a:solidFill>
                <a:latin typeface="Arial"/>
              </a:rPr>
              <a:t>₹12 k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372600" y="159105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1" i="0">
                <a:solidFill>
                  <a:srgbClr val="0A0A0A"/>
                </a:solidFill>
                <a:latin typeface="Arial"/>
              </a:rPr>
              <a:t>prototype bill of materials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8202168" y="1933956"/>
            <a:ext cx="73152" cy="73152"/>
          </a:xfrm>
          <a:prstGeom prst="rect">
            <a:avLst/>
          </a:prstGeom>
          <a:solidFill>
            <a:srgbClr val="C25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8366760" y="1883664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Indigenous IP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permissive licences end to end, no GPL, no foreign cloud.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8202168" y="2281428"/>
            <a:ext cx="73152" cy="73152"/>
          </a:xfrm>
          <a:prstGeom prst="rect">
            <a:avLst/>
          </a:prstGeom>
          <a:solidFill>
            <a:srgbClr val="C25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366760" y="2231136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Microcontroller-class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23.7 K parameters runs on a Pi 5, not a Jetson.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8202168" y="2628900"/>
            <a:ext cx="73152" cy="73152"/>
          </a:xfrm>
          <a:prstGeom prst="rect">
            <a:avLst/>
          </a:prstGeom>
          <a:solidFill>
            <a:srgbClr val="C25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8366760" y="2578608"/>
            <a:ext cx="31455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</a:pPr>
            <a:r>
              <a:rPr sz="740" b="1" i="0">
                <a:solidFill>
                  <a:srgbClr val="0A0A0A"/>
                </a:solidFill>
                <a:latin typeface="Arial"/>
              </a:rPr>
              <a:t>Feeds a DRDO SDR </a:t>
            </a:r>
            <a:r>
              <a:rPr sz="740" b="0" i="0">
                <a:solidFill>
                  <a:srgbClr val="0A0A0A"/>
                </a:solidFill>
                <a:latin typeface="Arial"/>
              </a:rPr>
              <a:t>— designed to drop into the software-defined radio programme.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02920" y="3182112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WHAT ONE GUNSHOT COSTS, AND WHAT THE SYSTEM CHANGES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02920" y="347472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02B28"/>
                </a:solidFill>
                <a:latin typeface="Arial"/>
              </a:rPr>
              <a:t>WITHOUT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377440" y="3383280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FBE0DE"/>
          </a:solidFill>
          <a:ln w="12700">
            <a:solidFill>
              <a:srgbClr val="C0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Blast at 150 dB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arrives at the ear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4491990" y="3575304"/>
            <a:ext cx="274320" cy="0"/>
          </a:xfrm>
          <a:prstGeom prst="line">
            <a:avLst/>
          </a:prstGeom>
          <a:ln w="19050">
            <a:solidFill>
              <a:srgbClr val="C02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Isosceles Triangle 17447"/>
          <p:cNvSpPr/>
          <p:nvPr/>
        </p:nvSpPr>
        <p:spPr>
          <a:xfrm rot="5400000">
            <a:off x="4716018" y="3525012"/>
            <a:ext cx="100584" cy="100584"/>
          </a:xfrm>
          <a:prstGeom prst="triangle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4766310" y="3383280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FBE0DE"/>
          </a:solidFill>
          <a:ln w="12700">
            <a:solidFill>
              <a:srgbClr val="C0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~200 ms of speech lost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the impulse window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6880860" y="3575304"/>
            <a:ext cx="274320" cy="0"/>
          </a:xfrm>
          <a:prstGeom prst="line">
            <a:avLst/>
          </a:prstGeom>
          <a:ln w="19050">
            <a:solidFill>
              <a:srgbClr val="C02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Isosceles Triangle 17450"/>
          <p:cNvSpPr/>
          <p:nvPr/>
        </p:nvSpPr>
        <p:spPr>
          <a:xfrm rot="5400000">
            <a:off x="7104888" y="3525012"/>
            <a:ext cx="100584" cy="100584"/>
          </a:xfrm>
          <a:prstGeom prst="triangle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7155180" y="3383280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FBE0DE"/>
          </a:solidFill>
          <a:ln w="12700">
            <a:solidFill>
              <a:srgbClr val="C0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Command missed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words lost per shot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9269730" y="3575304"/>
            <a:ext cx="274320" cy="0"/>
          </a:xfrm>
          <a:prstGeom prst="line">
            <a:avLst/>
          </a:prstGeom>
          <a:ln w="19050">
            <a:solidFill>
              <a:srgbClr val="C02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Isosceles Triangle 17453"/>
          <p:cNvSpPr/>
          <p:nvPr/>
        </p:nvSpPr>
        <p:spPr>
          <a:xfrm rot="5400000">
            <a:off x="9493758" y="3525012"/>
            <a:ext cx="100584" cy="100584"/>
          </a:xfrm>
          <a:prstGeom prst="triangle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9544050" y="3383280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FBE0DE"/>
          </a:solidFill>
          <a:ln w="12700">
            <a:solidFill>
              <a:srgbClr val="C0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Repeat under fire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delay, and risk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02920" y="391363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E7A4E"/>
                </a:solidFill>
                <a:latin typeface="Arial"/>
              </a:rPr>
              <a:t>WITH ZEIT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2377440" y="3822192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Lane A cancels at the ear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closed in under 1 ms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4491990" y="4014216"/>
            <a:ext cx="274320" cy="0"/>
          </a:xfrm>
          <a:prstGeom prst="line">
            <a:avLst/>
          </a:prstGeom>
          <a:ln w="19050">
            <a:solidFill>
              <a:srgbClr val="0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Isosceles Triangle 17458"/>
          <p:cNvSpPr/>
          <p:nvPr/>
        </p:nvSpPr>
        <p:spPr>
          <a:xfrm rot="5400000">
            <a:off x="4716018" y="3963924"/>
            <a:ext cx="100584" cy="100584"/>
          </a:xfrm>
          <a:prstGeom prst="triangl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ounded Rectangle 17459"/>
          <p:cNvSpPr/>
          <p:nvPr/>
        </p:nvSpPr>
        <p:spPr>
          <a:xfrm>
            <a:off x="4766310" y="3822192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Lane B conceals, recovers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IRT target under 35 ms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880860" y="4014216"/>
            <a:ext cx="274320" cy="0"/>
          </a:xfrm>
          <a:prstGeom prst="line">
            <a:avLst/>
          </a:prstGeom>
          <a:ln w="19050">
            <a:solidFill>
              <a:srgbClr val="0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Isosceles Triangle 17461"/>
          <p:cNvSpPr/>
          <p:nvPr/>
        </p:nvSpPr>
        <p:spPr>
          <a:xfrm rot="5400000">
            <a:off x="7104888" y="3963924"/>
            <a:ext cx="100584" cy="100584"/>
          </a:xfrm>
          <a:prstGeom prst="triangl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7155180" y="3822192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Command lands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on the first transmission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9269730" y="4014216"/>
            <a:ext cx="274320" cy="0"/>
          </a:xfrm>
          <a:prstGeom prst="line">
            <a:avLst/>
          </a:prstGeom>
          <a:ln w="19050">
            <a:solidFill>
              <a:srgbClr val="0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Isosceles Triangle 17464"/>
          <p:cNvSpPr/>
          <p:nvPr/>
        </p:nvSpPr>
        <p:spPr>
          <a:xfrm rot="5400000">
            <a:off x="9493758" y="3963924"/>
            <a:ext cx="100584" cy="100584"/>
          </a:xfrm>
          <a:prstGeom prst="triangl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Rounded Rectangle 17465"/>
          <p:cNvSpPr/>
          <p:nvPr/>
        </p:nvSpPr>
        <p:spPr>
          <a:xfrm>
            <a:off x="9544050" y="3822192"/>
            <a:ext cx="2114550" cy="384048"/>
          </a:xfrm>
          <a:prstGeom prst="roundRect">
            <a:avLst>
              <a:gd name="adj" fmla="val 14000"/>
            </a:avLst>
          </a:prstGeom>
          <a:solidFill>
            <a:srgbClr val="D9F1E3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A0A0A"/>
                </a:solidFill>
                <a:latin typeface="Arial"/>
              </a:rPr>
              <a:t>Hearing preserved</a:t>
            </a:r>
          </a:p>
          <a:p>
            <a:pPr algn="ctr">
              <a:spcBef>
                <a:spcPts val="100"/>
              </a:spcBef>
            </a:pPr>
            <a:r>
              <a:rPr sz="660" b="0" i="0">
                <a:solidFill>
                  <a:srgbClr val="0A0A0A"/>
                </a:solidFill>
                <a:latin typeface="Arial"/>
              </a:rPr>
              <a:t>MIL-STD-1474 respected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320040" y="439369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502920" y="435254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502920" y="4572000"/>
            <a:ext cx="2724912" cy="896112"/>
          </a:xfrm>
          <a:prstGeom prst="roundRect">
            <a:avLst>
              <a:gd name="adj" fmla="val 5000"/>
            </a:avLst>
          </a:prstGeom>
          <a:solidFill>
            <a:srgbClr val="D9F1E3"/>
          </a:solidFill>
          <a:ln w="12700">
            <a:solidFill>
              <a:srgbClr val="0E7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0" name="Rectangle 17469"/>
          <p:cNvSpPr/>
          <p:nvPr/>
        </p:nvSpPr>
        <p:spPr>
          <a:xfrm>
            <a:off x="502920" y="4572000"/>
            <a:ext cx="73152" cy="896112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704088" y="463600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E"/>
                </a:solidFill>
                <a:latin typeface="Arial"/>
              </a:rPr>
              <a:t>Health and social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704088" y="48554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Impulse noise is the leading cause of service-related hearing loss. Lane A protects the ear before any processing.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337560" y="4572000"/>
            <a:ext cx="2724912" cy="896112"/>
          </a:xfrm>
          <a:prstGeom prst="roundRect">
            <a:avLst>
              <a:gd name="adj" fmla="val 5000"/>
            </a:avLst>
          </a:prstGeom>
          <a:solidFill>
            <a:srgbClr val="DDEBFC"/>
          </a:solidFill>
          <a:ln w="12700">
            <a:solidFill>
              <a:srgbClr val="0B5F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4" name="Rectangle 17473"/>
          <p:cNvSpPr/>
          <p:nvPr/>
        </p:nvSpPr>
        <p:spPr>
          <a:xfrm>
            <a:off x="3337560" y="4572000"/>
            <a:ext cx="73152" cy="896112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3538728" y="463600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FCC"/>
                </a:solidFill>
                <a:latin typeface="Arial"/>
              </a:rPr>
              <a:t>Operational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3538728" y="48554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Voice survives the noise class the PS names first, and the system re-tunes per frame rather than being tuned once.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6172200" y="4572000"/>
            <a:ext cx="2724912" cy="896112"/>
          </a:xfrm>
          <a:prstGeom prst="roundRect">
            <a:avLst>
              <a:gd name="adj" fmla="val 5000"/>
            </a:avLst>
          </a:prstGeom>
          <a:solidFill>
            <a:srgbClr val="FDEAD3"/>
          </a:solidFill>
          <a:ln w="12700">
            <a:solidFill>
              <a:srgbClr val="C25E0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8" name="Rectangle 17477"/>
          <p:cNvSpPr/>
          <p:nvPr/>
        </p:nvSpPr>
        <p:spPr>
          <a:xfrm>
            <a:off x="6172200" y="4572000"/>
            <a:ext cx="73152" cy="896112"/>
          </a:xfrm>
          <a:prstGeom prst="rect">
            <a:avLst/>
          </a:prstGeom>
          <a:solidFill>
            <a:srgbClr val="C25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6373368" y="463600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5E07"/>
                </a:solidFill>
                <a:latin typeface="Arial"/>
              </a:rPr>
              <a:t>Economic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6373368" y="48554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A microcontroller-class model instead of a Jetson: lower unit cost, lower power, longer field endurance.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9006840" y="4572000"/>
            <a:ext cx="2724912" cy="896112"/>
          </a:xfrm>
          <a:prstGeom prst="roundRect">
            <a:avLst>
              <a:gd name="adj" fmla="val 5000"/>
            </a:avLst>
          </a:prstGeom>
          <a:solidFill>
            <a:srgbClr val="EAE1F8"/>
          </a:solidFill>
          <a:ln w="12700">
            <a:solidFill>
              <a:srgbClr val="683C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82" name="Rectangle 17481"/>
          <p:cNvSpPr/>
          <p:nvPr/>
        </p:nvSpPr>
        <p:spPr>
          <a:xfrm>
            <a:off x="9006840" y="4572000"/>
            <a:ext cx="73152" cy="896112"/>
          </a:xfrm>
          <a:prstGeom prst="rect">
            <a:avLst/>
          </a:prstGeom>
          <a:solidFill>
            <a:srgbClr val="683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9208008" y="463600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83CA5"/>
                </a:solidFill>
                <a:latin typeface="Arial"/>
              </a:rPr>
              <a:t>Strategic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9208008" y="48554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Indigenous IP and permissive licences — deployable under Make in India procurement, with no cloud dependency.</a:t>
            </a:r>
          </a:p>
        </p:txBody>
      </p:sp>
      <p:cxnSp>
        <p:nvCxnSpPr>
          <p:cNvPr id="17485" name="Connector 17484"/>
          <p:cNvCxnSpPr/>
          <p:nvPr/>
        </p:nvCxnSpPr>
        <p:spPr>
          <a:xfrm>
            <a:off x="502920" y="5559552"/>
            <a:ext cx="11155680" cy="0"/>
          </a:xfrm>
          <a:prstGeom prst="line">
            <a:avLst/>
          </a:prstGeom>
          <a:ln w="9525">
            <a:solidFill>
              <a:srgbClr val="BF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6" name="TextBox 17485"/>
          <p:cNvSpPr txBox="1"/>
          <p:nvPr/>
        </p:nvSpPr>
        <p:spPr>
          <a:xfrm>
            <a:off x="502920" y="5614416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A0A0A"/>
                </a:solidFill>
                <a:latin typeface="Arial"/>
              </a:rPr>
              <a:t>THE ENVELOPE THE SYSTEM WORKS INSIDE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502920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B5FCC"/>
                </a:solidFill>
                <a:latin typeface="Arial"/>
              </a:rPr>
              <a:t>&gt; 15 dB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502920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SNR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2386584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B5FCC"/>
                </a:solidFill>
                <a:latin typeface="Arial"/>
              </a:rPr>
              <a:t>&gt; 0.85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2386584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STOI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4270248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B5FCC"/>
                </a:solidFill>
                <a:latin typeface="Arial"/>
              </a:rPr>
              <a:t>&gt; 2.5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4270248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PESQ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6153912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E7A4E"/>
                </a:solidFill>
                <a:latin typeface="Arial"/>
              </a:rPr>
              <a:t>&lt; 25.3 ms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6153912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lane B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8037576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E7A4E"/>
                </a:solidFill>
                <a:latin typeface="Arial"/>
              </a:rPr>
              <a:t>&lt; 1 ms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8037576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lane A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9921240" y="577900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C25E07"/>
                </a:solidFill>
                <a:latin typeface="Arial"/>
              </a:rPr>
              <a:t>&lt; 6 W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9921240" y="602589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board power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502920" y="6190488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0A0A0A"/>
                </a:solidFill>
                <a:latin typeface="Arial"/>
              </a:rPr>
              <a:t>MATURITY PATH   ·   bench integrated  →  range, calibrated data  →  field trial with a unit  →  radio integration  →  production, Make in India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ext cx="8686800" cy="0"/>
          </a:xfrm>
        </p:spPr>
        <p:txBody>
          <a:bodyPr/>
          <a:lstStyle/>
          <a:p>
            <a:pPr eaLnBrk="1" hangingPunct="1" algn="l"/>
            <a:r>
              <a:rPr lang="en-US" sz="2700" b="1" dirty="0">
                <a:solidFill>
                  <a:srgbClr val="0A0A0A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9184" y="932688"/>
            <a:ext cx="1005840" cy="5486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0040" y="1101852"/>
            <a:ext cx="100584" cy="100584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06070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261872"/>
            <a:ext cx="3246120" cy="2697480"/>
          </a:xfrm>
          <a:prstGeom prst="roundRect">
            <a:avLst>
              <a:gd name="adj" fmla="val 5000"/>
            </a:avLst>
          </a:prstGeom>
          <a:solidFill>
            <a:srgbClr val="EAE1F8"/>
          </a:solidFill>
          <a:ln w="15875">
            <a:solidFill>
              <a:srgbClr val="683C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94360" y="132588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683CA5"/>
                </a:solidFill>
                <a:latin typeface="Arial"/>
              </a:rPr>
              <a:t>HOW THE READING WAS USED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62940" y="1591056"/>
            <a:ext cx="2926080" cy="512064"/>
          </a:xfrm>
          <a:prstGeom prst="roundRect">
            <a:avLst>
              <a:gd name="adj" fmla="val 4000"/>
            </a:avLst>
          </a:prstGeom>
          <a:solidFill>
            <a:srgbClr val="683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90956" y="167335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376172" y="1682496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papers read end to end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2125980" y="2103120"/>
            <a:ext cx="0" cy="91440"/>
          </a:xfrm>
          <a:prstGeom prst="line">
            <a:avLst/>
          </a:prstGeom>
          <a:ln w="1778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Isosceles Triangle 17419"/>
          <p:cNvSpPr/>
          <p:nvPr/>
        </p:nvSpPr>
        <p:spPr>
          <a:xfrm rot="10800000">
            <a:off x="2080260" y="2148840"/>
            <a:ext cx="91440" cy="9144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60120" y="2194560"/>
            <a:ext cx="2331720" cy="512064"/>
          </a:xfrm>
          <a:prstGeom prst="roundRect">
            <a:avLst>
              <a:gd name="adj" fmla="val 4000"/>
            </a:avLst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1088136" y="2276856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673352" y="2286000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inform the design — method, baseline, evidence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2125980" y="2706624"/>
            <a:ext cx="0" cy="91440"/>
          </a:xfrm>
          <a:prstGeom prst="line">
            <a:avLst/>
          </a:prstGeom>
          <a:ln w="1778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Isosceles Triangle 17424"/>
          <p:cNvSpPr/>
          <p:nvPr/>
        </p:nvSpPr>
        <p:spPr>
          <a:xfrm rot="10800000">
            <a:off x="2080260" y="2752344"/>
            <a:ext cx="91440" cy="9144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1257300" y="2798064"/>
            <a:ext cx="1737360" cy="512064"/>
          </a:xfrm>
          <a:prstGeom prst="roundRect">
            <a:avLst>
              <a:gd name="adj" fmla="val 4000"/>
            </a:avLst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1385316" y="288036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970532" y="2889504"/>
            <a:ext cx="896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put code on the device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9224" y="362102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20" b="0" i="0">
                <a:solidFill>
                  <a:srgbClr val="0A0A0A"/>
                </a:solidFill>
                <a:latin typeface="Arial"/>
              </a:rPr>
              <a:t>Widrow · Shao &amp; Nikias · BMRI · GTCRN · H-GTCRN — one block each, named on slide 3.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931920" y="1261872"/>
            <a:ext cx="393192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2B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023360" y="1325880"/>
            <a:ext cx="3749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02B28"/>
                </a:solidFill>
                <a:latin typeface="Arial"/>
              </a:rPr>
              <a:t>WHERE THE PUBLISHED WORK STOPS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059936" y="1636776"/>
            <a:ext cx="73152" cy="73152"/>
          </a:xfrm>
          <a:prstGeom prst="rect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224528" y="1572768"/>
            <a:ext cx="3511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C02B28"/>
                </a:solidFill>
                <a:latin typeface="Arial"/>
              </a:rPr>
              <a:t>No impulsive noise in deep ANC.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24528" y="1755648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30" b="0" i="0">
                <a:solidFill>
                  <a:srgbClr val="0A0A0A"/>
                </a:solidFill>
                <a:latin typeface="Arial"/>
              </a:rPr>
              <a:t>Every result table uses engine, factory, babble and speech-shaped noise — not the class DRDO names first.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059936" y="2148840"/>
            <a:ext cx="73152" cy="73152"/>
          </a:xfrm>
          <a:prstGeom prst="rect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4224528" y="2084832"/>
            <a:ext cx="3511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C02B28"/>
                </a:solidFill>
                <a:latin typeface="Arial"/>
              </a:rPr>
              <a:t>Latency is bought by prediction.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224528" y="2267712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30" b="0" i="0">
                <a:solidFill>
                  <a:srgbClr val="0A0A0A"/>
                </a:solidFill>
                <a:latin typeface="Arial"/>
              </a:rPr>
              <a:t>1.5–1.7 dB lost per 10 ms on periodic noise. A gunshot gives prediction nothing to work with.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059936" y="2660904"/>
            <a:ext cx="73152" cy="73152"/>
          </a:xfrm>
          <a:prstGeom prst="rect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4224528" y="2596896"/>
            <a:ext cx="3511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C02B28"/>
                </a:solidFill>
                <a:latin typeface="Arial"/>
              </a:rPr>
              <a:t>RMS normalisation is invalid.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224528" y="2779776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30" b="0" i="0">
                <a:solidFill>
                  <a:srgbClr val="0A0A0A"/>
                </a:solidFill>
                <a:latin typeface="Arial"/>
              </a:rPr>
              <a:t>Heavy-tailed noise has infinite variance. The closest prior system normalises by RMS anyway.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4059936" y="3172968"/>
            <a:ext cx="73152" cy="73152"/>
          </a:xfrm>
          <a:prstGeom prst="rect">
            <a:avLst/>
          </a:prstGeom>
          <a:solidFill>
            <a:srgbClr val="C0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4224528" y="3108960"/>
            <a:ext cx="3511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C02B28"/>
                </a:solidFill>
                <a:latin typeface="Arial"/>
              </a:rPr>
              <a:t>Mic-side clipping is modelled by nobody.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224528" y="3291840"/>
            <a:ext cx="3511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30" b="0" i="0">
                <a:solidFill>
                  <a:srgbClr val="0A0A0A"/>
                </a:solidFill>
                <a:latin typeface="Arial"/>
              </a:rPr>
              <a:t>Loudspeaker saturation is modelled carefully; a 140 dB blast destroys the waveform at the capsule.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046720" y="1261872"/>
            <a:ext cx="3639312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B5F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138160" y="1325880"/>
            <a:ext cx="3456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B5FCC"/>
                </a:solidFill>
                <a:latin typeface="Arial"/>
              </a:rPr>
              <a:t>THE SIXTEEN SOURCES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174736" y="157276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B5FCC"/>
                </a:solidFill>
                <a:latin typeface="Arial"/>
              </a:rPr>
              <a:t>Foundations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174736" y="1755648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Widrow — Adaptive Noise Cancelling, Proc. IEEE, 1975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174736" y="1915668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Varga &amp; Steeneken — NOISEX-92, 1993 · Shao &amp; Nikias — FLOM, 1993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174736" y="213969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B5FCC"/>
                </a:solidFill>
                <a:latin typeface="Arial"/>
              </a:rPr>
              <a:t>Learned enhancement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174736" y="2322576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GTCRN — Rong, ICASSP 2024 · H-GTCRN, dual channel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174736" y="2482596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DCCRN · FullSubNet · DeepFilterNet2 — real time on a Pi 4, 2022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174736" y="270662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B5FCC"/>
                </a:solidFill>
                <a:latin typeface="Arial"/>
              </a:rPr>
              <a:t>Impulsive noise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174736" y="2889504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Ruhland — BMRI, IEEE/ACM TASLP 23(10), 2015 · Ono — Aux-IVA, 2011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174736" y="3049524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Yuan, Li &amp; Kuruoğlu — α-stable noise, 2023 · Berger — IS³, 2025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8174736" y="327355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0B5FCC"/>
                </a:solidFill>
                <a:latin typeface="Arial"/>
              </a:rPr>
              <a:t>Baselines, metrics and standards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174736" y="3456432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Zhang &amp; Wang — Deep ANC, 2021 · Tan — dual-mic DC-CRN, 2021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174736" y="3616452"/>
            <a:ext cx="3383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0" i="0">
                <a:solidFill>
                  <a:srgbClr val="0A0A0A"/>
                </a:solidFill>
                <a:latin typeface="Arial"/>
              </a:rPr>
              <a:t>Le Roux — SDR, 2019 · Reddy — DNSMOS, 2022 · MIL-STD-1474 · JSS 55555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502920" y="4078224"/>
            <a:ext cx="11183112" cy="1810512"/>
          </a:xfrm>
          <a:prstGeom prst="roundRect">
            <a:avLst>
              <a:gd name="adj" fmla="val 5000"/>
            </a:avLst>
          </a:prstGeom>
          <a:solidFill>
            <a:srgbClr val="D6EEF6"/>
          </a:solidFill>
          <a:ln w="15875">
            <a:solidFill>
              <a:srgbClr val="0B6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594360" y="4142232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B6E8A"/>
                </a:solidFill>
                <a:latin typeface="Arial"/>
              </a:rPr>
              <a:t>WHAT ACCOMPANIES THIS SUBMISSION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58368" y="4370832"/>
            <a:ext cx="2651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F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804672" y="4434840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B5FCC"/>
                </a:solidFill>
                <a:latin typeface="Arial"/>
              </a:rPr>
              <a:t>System Handbook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04672" y="4636008"/>
            <a:ext cx="2359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0" i="0">
                <a:solidFill>
                  <a:srgbClr val="0A0A0A"/>
                </a:solidFill>
                <a:latin typeface="Arial"/>
              </a:rPr>
              <a:t>Ten figures, every block specified, every unverified figure marked as such.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804672" y="5029200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0B5FCC"/>
                </a:solidFill>
                <a:latin typeface="Arial"/>
              </a:rPr>
              <a:t>zeit-handbook.netlify.app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3429000" y="4370832"/>
            <a:ext cx="2651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7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3575304" y="4434840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7A4E"/>
                </a:solidFill>
                <a:latin typeface="Arial"/>
              </a:rPr>
              <a:t>3-D Prototype Workbench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3575304" y="4636008"/>
            <a:ext cx="2359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0" i="0">
                <a:solidFill>
                  <a:srgbClr val="0A0A0A"/>
                </a:solidFill>
                <a:latin typeface="Arial"/>
              </a:rPr>
              <a:t>Both lanes modelled, earcup cut away, a simulated shot traced end to end.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3575304" y="5029200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0E7A4E"/>
                </a:solidFill>
                <a:latin typeface="Arial"/>
              </a:rPr>
              <a:t>zeit-handbook.netlify.app/zeit-bench-3d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6199632" y="4370832"/>
            <a:ext cx="2651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25E0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6345936" y="4434840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5E07"/>
                </a:solidFill>
                <a:latin typeface="Arial"/>
              </a:rPr>
              <a:t>Architecture Audit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6345936" y="4636008"/>
            <a:ext cx="2359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0" i="0">
                <a:solidFill>
                  <a:srgbClr val="0A0A0A"/>
                </a:solidFill>
                <a:latin typeface="Arial"/>
              </a:rPr>
              <a:t>Thirteen ranked findings against our own design, each traced to a source.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345936" y="5029200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C25E07"/>
                </a:solidFill>
                <a:latin typeface="Arial"/>
              </a:rPr>
              <a:t>in the repository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8970264" y="4370832"/>
            <a:ext cx="2651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83C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9116568" y="4434840"/>
            <a:ext cx="2359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83CA5"/>
                </a:solidFill>
                <a:latin typeface="Arial"/>
              </a:rPr>
              <a:t>Source and data toolkit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9116568" y="4636008"/>
            <a:ext cx="2359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20" b="0" i="0">
                <a:solidFill>
                  <a:srgbClr val="0A0A0A"/>
                </a:solidFill>
                <a:latin typeface="Arial"/>
              </a:rPr>
              <a:t>21 CLI tools, the measurement engine, and the SHA-256 freeze.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116568" y="5029200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683CA5"/>
                </a:solidFill>
                <a:latin typeface="Arial"/>
              </a:rPr>
              <a:t>github.com/Sarthakk1407/Zeit_at_SIH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58368" y="53035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A0A0A"/>
                </a:solidFill>
                <a:latin typeface="Arial"/>
              </a:rPr>
              <a:t>EVERY FIGURE IN THIS DECK IS REPRODUCIBLE — the deck itself is built by script from the template, and the 3-D renders on slides 2 and 3 come out of the same model the handbook publishes.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658368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60" b="0" i="0">
                <a:solidFill>
                  <a:srgbClr val="0A0A0A"/>
                </a:solidFill>
                <a:latin typeface="Arial"/>
              </a:rPr>
              <a:t>Sixteen sources were read end to end and a gap analysis written against each. Five of them ship as code; the rest set the baseline we measure against, or the standard we are held to. Where our own review found a defect in this project's design, it is recorded in the audit rather than omitted — thirteen findings, ranked, with the four most serious answered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