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97" r:id="rId3"/>
    <p:sldId id="281" r:id="rId4"/>
    <p:sldId id="290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240280"/>
            <a:ext cx="5394960" cy="3611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4A6572"/>
                </a:solidFill>
                <a:latin typeface="Arial"/>
              </a:rPr>
              <a:t>Problem Statement ID — </a:t>
            </a:r>
            <a:r>
              <a:rPr sz="1150" b="0">
                <a:solidFill>
                  <a:srgbClr val="13202A"/>
                </a:solidFill>
                <a:latin typeface="Arial"/>
              </a:rPr>
              <a:t>26052</a:t>
            </a:r>
            <a:endParaRPr lang="en-US" dirty="0"/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A6572"/>
                </a:solidFill>
                <a:latin typeface="Arial"/>
              </a:rPr>
              <a:t>Problem Statement Title — </a:t>
            </a:r>
            <a:r>
              <a:rPr sz="1150" b="0">
                <a:solidFill>
                  <a:srgbClr val="13202A"/>
                </a:solidFill>
                <a:latin typeface="Arial"/>
              </a:rPr>
              <a:t>AI/ML-enabled adaptive noise cancellation for stationary, non-stationary and impulsive defence noise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A6572"/>
                </a:solidFill>
                <a:latin typeface="Arial"/>
              </a:rPr>
              <a:t>Theme — </a:t>
            </a:r>
            <a:r>
              <a:rPr sz="1150" b="0">
                <a:solidFill>
                  <a:srgbClr val="13202A"/>
                </a:solidFill>
                <a:latin typeface="Arial"/>
              </a:rPr>
              <a:t>Miscellaneous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A6572"/>
                </a:solidFill>
                <a:latin typeface="Arial"/>
              </a:rPr>
              <a:t>PS Category — </a:t>
            </a:r>
            <a:r>
              <a:rPr sz="1150" b="0">
                <a:solidFill>
                  <a:srgbClr val="13202A"/>
                </a:solidFill>
                <a:latin typeface="Arial"/>
              </a:rPr>
              <a:t>Hardware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A6572"/>
                </a:solidFill>
                <a:latin typeface="Arial"/>
              </a:rPr>
              <a:t>Organisation — </a:t>
            </a:r>
            <a:r>
              <a:rPr sz="1150" b="0">
                <a:solidFill>
                  <a:srgbClr val="13202A"/>
                </a:solidFill>
                <a:latin typeface="Arial"/>
              </a:rPr>
              <a:t>DRDO  ·  Department of Defence Production / IDEX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A6572"/>
                </a:solidFill>
                <a:latin typeface="Arial"/>
              </a:rPr>
              <a:t>Team ID — </a:t>
            </a:r>
            <a:r>
              <a:rPr sz="1150" b="0">
                <a:solidFill>
                  <a:srgbClr val="13202A"/>
                </a:solidFill>
                <a:latin typeface="Arial"/>
              </a:rPr>
              <a:t>(from SIH portal)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A6572"/>
                </a:solidFill>
                <a:latin typeface="Arial"/>
              </a:rPr>
              <a:t>Team Name — </a:t>
            </a:r>
            <a:r>
              <a:rPr sz="1150" b="1">
                <a:solidFill>
                  <a:srgbClr val="13202A"/>
                </a:solidFill>
                <a:latin typeface="Arial"/>
              </a:rPr>
              <a:t>ZEIT v.1.0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A6572"/>
                </a:solidFill>
                <a:latin typeface="Arial"/>
              </a:rPr>
              <a:t>Mentor — </a:t>
            </a:r>
            <a:r>
              <a:rPr sz="1150" b="0">
                <a:solidFill>
                  <a:srgbClr val="13202A"/>
                </a:solidFill>
                <a:latin typeface="Arial"/>
              </a:rPr>
              <a:t>Dr. Swati Singal — Assistant Professor, CSE / SSCSE, Sharda University, Greater Noida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5989320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3541E"/>
                </a:solidFill>
                <a:latin typeface="Arial"/>
              </a:rPr>
              <a:t>Two-lane impulse-adaptive noise cancellation for defence communications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648" y="201168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02A"/>
                </a:solidFill>
                <a:latin typeface="Arial"/>
              </a:rPr>
              <a:t>MENTOR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078992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3541E"/>
                </a:solidFill>
                <a:latin typeface="Arial"/>
              </a:rPr>
              <a:t>GUIDANCE ACCEPTED FOR PROBLEM STATEMENT 26052  ·  INTERNAL SMART INDIA HACKATHON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1389888"/>
            <a:ext cx="11064240" cy="713232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1499616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202A"/>
                </a:solidFill>
                <a:latin typeface="Arial"/>
              </a:rPr>
              <a:t>Dr. Swati Singal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1819656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6572"/>
                </a:solidFill>
                <a:latin typeface="Arial"/>
              </a:rPr>
              <a:t>Assistant Professor, Computer Science — SSCSE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517904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4A6572"/>
                </a:solidFill>
                <a:latin typeface="Arial"/>
              </a:rPr>
              <a:t>Sharda University, Greater Noida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19656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8FA3AD"/>
                </a:solidFill>
                <a:latin typeface="Arial"/>
              </a:rPr>
              <a:t>Mentor — Team ZEIT v.1.0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97380" y="2221992"/>
            <a:ext cx="8394192" cy="37068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pic>
        <p:nvPicPr>
          <p:cNvPr id="22" name="Picture 21" descr="mentor-approval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676" y="2304288"/>
            <a:ext cx="8229600" cy="3542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79676" y="599283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8FA3AD"/>
                </a:solidFill>
                <a:latin typeface="Arial"/>
              </a:rPr>
              <a:t>Accepted by email in reply to “Request to Mentor Team ZEIT v.1.0 for SIH 2026 — PS 26052”</a:t>
            </a: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8686800" cy="1143000"/>
          </a:xfrm>
        </p:spPr>
        <p:txBody>
          <a:bodyPr/>
          <a:lstStyle/>
          <a:p>
            <a:pPr algn="l" eaLnBrk="1" hangingPunct="1"/>
            <a:r>
              <a:rPr lang="en-US" sz="2500" b="1" dirty="0">
                <a:solidFill>
                  <a:srgbClr val="13202A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ZEIT — Two-Lane Impulse-Adaptive Noise Cancellation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02920" y="1097280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FA3AD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502920" y="1335024"/>
            <a:ext cx="7360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3541E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148840" y="1572768"/>
            <a:ext cx="5715000" cy="85953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B3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2258568" y="1636776"/>
            <a:ext cx="54955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B3541E"/>
                </a:solidFill>
                <a:latin typeface="Arial"/>
              </a:rPr>
              <a:t>LANE A  ·  hearing protection  ·  under 1 ms  ·  FxLMS, no neural network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2148840" y="2688336"/>
            <a:ext cx="5715000" cy="85953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132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2258568" y="2752344"/>
            <a:ext cx="54955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3202A"/>
                </a:solidFill>
                <a:latin typeface="Arial"/>
              </a:rPr>
              <a:t>LANE B  ·  transmit to radio  ·  25.3 ms  ·  eleven blocks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502920" y="1828800"/>
            <a:ext cx="1325880" cy="438912"/>
          </a:xfrm>
          <a:prstGeom prst="roundRect">
            <a:avLst>
              <a:gd name="adj" fmla="val 14000"/>
            </a:avLst>
          </a:prstGeom>
          <a:solidFill>
            <a:srgbClr val="F7ECE4"/>
          </a:solidFill>
          <a:ln w="12700">
            <a:solidFill>
              <a:srgbClr val="B3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Mic 3 · error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02920" y="2386584"/>
            <a:ext cx="1325880" cy="438912"/>
          </a:xfrm>
          <a:prstGeom prst="roundRect">
            <a:avLst>
              <a:gd name="adj" fmla="val 14000"/>
            </a:avLst>
          </a:prstGeom>
          <a:solidFill>
            <a:srgbClr val="EDF0F2"/>
          </a:solidFill>
          <a:ln w="12700">
            <a:solidFill>
              <a:srgbClr val="4A6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Mic 2 · reference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502920" y="2944368"/>
            <a:ext cx="1325880" cy="438912"/>
          </a:xfrm>
          <a:prstGeom prst="roundRect">
            <a:avLst>
              <a:gd name="adj" fmla="val 14000"/>
            </a:avLst>
          </a:prstGeom>
          <a:solidFill>
            <a:srgbClr val="EDF0F2"/>
          </a:solidFill>
          <a:ln w="12700">
            <a:solidFill>
              <a:srgbClr val="132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Mic 1 · voice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2331720" y="1828800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3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FxLMS filter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160520" y="1828800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3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Anti-noise driver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5989320" y="1828800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3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The ear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2331720" y="2944368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32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Engine · 11 blocks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160520" y="2944368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32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Vocoder · MELPe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989320" y="2944368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E6F0EC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Radio link</a:t>
            </a:r>
          </a:p>
        </p:txBody>
      </p:sp>
      <p:cxnSp>
        <p:nvCxnSpPr>
          <p:cNvPr id="15377" name="Connector 15376"/>
          <p:cNvCxnSpPr/>
          <p:nvPr/>
        </p:nvCxnSpPr>
        <p:spPr>
          <a:xfrm>
            <a:off x="1828800" y="2048256"/>
            <a:ext cx="502920" cy="0"/>
          </a:xfrm>
          <a:prstGeom prst="line">
            <a:avLst/>
          </a:prstGeom>
          <a:ln w="1905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8" name="Isosceles Triangle 15377"/>
          <p:cNvSpPr/>
          <p:nvPr/>
        </p:nvSpPr>
        <p:spPr>
          <a:xfrm rot="5400000">
            <a:off x="2272284" y="1988820"/>
            <a:ext cx="118872" cy="118872"/>
          </a:xfrm>
          <a:prstGeom prst="triangl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79" name="Connector 15378"/>
          <p:cNvCxnSpPr/>
          <p:nvPr/>
        </p:nvCxnSpPr>
        <p:spPr>
          <a:xfrm>
            <a:off x="1828800" y="3163824"/>
            <a:ext cx="502920" cy="0"/>
          </a:xfrm>
          <a:prstGeom prst="line">
            <a:avLst/>
          </a:prstGeom>
          <a:ln w="19050">
            <a:solidFill>
              <a:srgbClr val="132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0" name="Isosceles Triangle 15379"/>
          <p:cNvSpPr/>
          <p:nvPr/>
        </p:nvSpPr>
        <p:spPr>
          <a:xfrm rot="5400000">
            <a:off x="2272284" y="3104388"/>
            <a:ext cx="118872" cy="118872"/>
          </a:xfrm>
          <a:prstGeom prst="triangle">
            <a:avLst/>
          </a:prstGeom>
          <a:solidFill>
            <a:srgbClr val="13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81" name="Connector 15380"/>
          <p:cNvCxnSpPr/>
          <p:nvPr/>
        </p:nvCxnSpPr>
        <p:spPr>
          <a:xfrm>
            <a:off x="1828800" y="2606040"/>
            <a:ext cx="201168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2" name="Connector 15381"/>
          <p:cNvCxnSpPr/>
          <p:nvPr/>
        </p:nvCxnSpPr>
        <p:spPr>
          <a:xfrm flipV="1">
            <a:off x="2029968" y="2139696"/>
            <a:ext cx="0" cy="466344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3" name="Connector 15382"/>
          <p:cNvCxnSpPr/>
          <p:nvPr/>
        </p:nvCxnSpPr>
        <p:spPr>
          <a:xfrm>
            <a:off x="2029968" y="2139696"/>
            <a:ext cx="301752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4" name="Isosceles Triangle 15383"/>
          <p:cNvSpPr/>
          <p:nvPr/>
        </p:nvSpPr>
        <p:spPr>
          <a:xfrm rot="5400000">
            <a:off x="2272284" y="2080260"/>
            <a:ext cx="118872" cy="118872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85" name="Connector 15384"/>
          <p:cNvCxnSpPr/>
          <p:nvPr/>
        </p:nvCxnSpPr>
        <p:spPr>
          <a:xfrm>
            <a:off x="2029968" y="2606040"/>
            <a:ext cx="0" cy="466344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6" name="Connector 15385"/>
          <p:cNvCxnSpPr/>
          <p:nvPr/>
        </p:nvCxnSpPr>
        <p:spPr>
          <a:xfrm>
            <a:off x="2029968" y="3072384"/>
            <a:ext cx="301752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7" name="Isosceles Triangle 15386"/>
          <p:cNvSpPr/>
          <p:nvPr/>
        </p:nvSpPr>
        <p:spPr>
          <a:xfrm rot="5400000">
            <a:off x="2272284" y="3012948"/>
            <a:ext cx="118872" cy="118872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88" name="Connector 15387"/>
          <p:cNvCxnSpPr/>
          <p:nvPr/>
        </p:nvCxnSpPr>
        <p:spPr>
          <a:xfrm>
            <a:off x="3904488" y="2048256"/>
            <a:ext cx="256032" cy="0"/>
          </a:xfrm>
          <a:prstGeom prst="line">
            <a:avLst/>
          </a:prstGeom>
          <a:ln w="1905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9" name="Isosceles Triangle 15388"/>
          <p:cNvSpPr/>
          <p:nvPr/>
        </p:nvSpPr>
        <p:spPr>
          <a:xfrm rot="5400000">
            <a:off x="4101084" y="1988820"/>
            <a:ext cx="118872" cy="118872"/>
          </a:xfrm>
          <a:prstGeom prst="triangl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90" name="Connector 15389"/>
          <p:cNvCxnSpPr/>
          <p:nvPr/>
        </p:nvCxnSpPr>
        <p:spPr>
          <a:xfrm>
            <a:off x="3904488" y="3163824"/>
            <a:ext cx="256032" cy="0"/>
          </a:xfrm>
          <a:prstGeom prst="line">
            <a:avLst/>
          </a:prstGeom>
          <a:ln w="19050">
            <a:solidFill>
              <a:srgbClr val="132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1" name="Isosceles Triangle 15390"/>
          <p:cNvSpPr/>
          <p:nvPr/>
        </p:nvSpPr>
        <p:spPr>
          <a:xfrm rot="5400000">
            <a:off x="4101084" y="3104388"/>
            <a:ext cx="118872" cy="118872"/>
          </a:xfrm>
          <a:prstGeom prst="triangle">
            <a:avLst/>
          </a:prstGeom>
          <a:solidFill>
            <a:srgbClr val="13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92" name="Connector 15391"/>
          <p:cNvCxnSpPr/>
          <p:nvPr/>
        </p:nvCxnSpPr>
        <p:spPr>
          <a:xfrm>
            <a:off x="5733288" y="2048256"/>
            <a:ext cx="256032" cy="0"/>
          </a:xfrm>
          <a:prstGeom prst="line">
            <a:avLst/>
          </a:prstGeom>
          <a:ln w="1905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3" name="Isosceles Triangle 15392"/>
          <p:cNvSpPr/>
          <p:nvPr/>
        </p:nvSpPr>
        <p:spPr>
          <a:xfrm rot="5400000">
            <a:off x="5929884" y="1988820"/>
            <a:ext cx="118872" cy="118872"/>
          </a:xfrm>
          <a:prstGeom prst="triangl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94" name="Connector 15393"/>
          <p:cNvCxnSpPr/>
          <p:nvPr/>
        </p:nvCxnSpPr>
        <p:spPr>
          <a:xfrm>
            <a:off x="5733288" y="3163824"/>
            <a:ext cx="256032" cy="0"/>
          </a:xfrm>
          <a:prstGeom prst="line">
            <a:avLst/>
          </a:prstGeom>
          <a:ln w="19050">
            <a:solidFill>
              <a:srgbClr val="132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5" name="Isosceles Triangle 15394"/>
          <p:cNvSpPr/>
          <p:nvPr/>
        </p:nvSpPr>
        <p:spPr>
          <a:xfrm rot="5400000">
            <a:off x="5929884" y="3104388"/>
            <a:ext cx="118872" cy="118872"/>
          </a:xfrm>
          <a:prstGeom prst="triangle">
            <a:avLst/>
          </a:prstGeom>
          <a:solidFill>
            <a:srgbClr val="13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96" name="Connector 15395"/>
          <p:cNvCxnSpPr/>
          <p:nvPr/>
        </p:nvCxnSpPr>
        <p:spPr>
          <a:xfrm>
            <a:off x="6775704" y="2267712"/>
            <a:ext cx="0" cy="237744"/>
          </a:xfrm>
          <a:prstGeom prst="line">
            <a:avLst/>
          </a:prstGeom>
          <a:ln w="1905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7" name="Connector 15396"/>
          <p:cNvCxnSpPr/>
          <p:nvPr/>
        </p:nvCxnSpPr>
        <p:spPr>
          <a:xfrm flipH="1">
            <a:off x="3118104" y="2505456"/>
            <a:ext cx="3657600" cy="0"/>
          </a:xfrm>
          <a:prstGeom prst="line">
            <a:avLst/>
          </a:prstGeom>
          <a:ln w="1905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8" name="Connector 15397"/>
          <p:cNvCxnSpPr/>
          <p:nvPr/>
        </p:nvCxnSpPr>
        <p:spPr>
          <a:xfrm flipV="1">
            <a:off x="3118104" y="2267712"/>
            <a:ext cx="0" cy="237744"/>
          </a:xfrm>
          <a:prstGeom prst="line">
            <a:avLst/>
          </a:prstGeom>
          <a:ln w="1905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9" name="Isosceles Triangle 15398"/>
          <p:cNvSpPr/>
          <p:nvPr/>
        </p:nvSpPr>
        <p:spPr>
          <a:xfrm>
            <a:off x="3058668" y="2208276"/>
            <a:ext cx="118872" cy="118872"/>
          </a:xfrm>
          <a:prstGeom prst="triangl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0" name="TextBox 15399"/>
          <p:cNvSpPr txBox="1"/>
          <p:nvPr/>
        </p:nvSpPr>
        <p:spPr>
          <a:xfrm>
            <a:off x="3566160" y="2523744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B3541E"/>
                </a:solidFill>
                <a:latin typeface="Arial"/>
              </a:rPr>
              <a:t>error signal — what still reaches the ear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502920" y="3639312"/>
            <a:ext cx="7360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3541E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502920" y="3858768"/>
            <a:ext cx="7360920" cy="493776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03" name="TextBox 15402"/>
          <p:cNvSpPr txBox="1"/>
          <p:nvPr/>
        </p:nvSpPr>
        <p:spPr>
          <a:xfrm>
            <a:off x="630936" y="393192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3202A"/>
                </a:solidFill>
                <a:latin typeface="Arial"/>
              </a:rPr>
              <a:t>Impulsive noise — gunshots, artillery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3337560" y="3904488"/>
            <a:ext cx="436168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 i="0">
                <a:solidFill>
                  <a:srgbClr val="4A6572"/>
                </a:solidFill>
                <a:latin typeface="Arial"/>
              </a:rPr>
              <a:t>Detect-and-react transient path; α-stable augmentation trained through the clipping</a:t>
            </a:r>
          </a:p>
        </p:txBody>
      </p:sp>
      <p:sp>
        <p:nvSpPr>
          <p:cNvPr id="15405" name="Rounded Rectangle 15404"/>
          <p:cNvSpPr/>
          <p:nvPr/>
        </p:nvSpPr>
        <p:spPr>
          <a:xfrm>
            <a:off x="502920" y="4407408"/>
            <a:ext cx="7360920" cy="493776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06" name="TextBox 15405"/>
          <p:cNvSpPr txBox="1"/>
          <p:nvPr/>
        </p:nvSpPr>
        <p:spPr>
          <a:xfrm>
            <a:off x="630936" y="448056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3202A"/>
                </a:solidFill>
                <a:latin typeface="Arial"/>
              </a:rPr>
              <a:t>Adaptive</a:t>
            </a:r>
          </a:p>
        </p:txBody>
      </p:sp>
      <p:sp>
        <p:nvSpPr>
          <p:cNvPr id="15407" name="TextBox 15406"/>
          <p:cNvSpPr txBox="1"/>
          <p:nvPr/>
        </p:nvSpPr>
        <p:spPr>
          <a:xfrm>
            <a:off x="3337560" y="4453128"/>
            <a:ext cx="436168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 i="0">
                <a:solidFill>
                  <a:srgbClr val="4A6572"/>
                </a:solidFill>
                <a:latin typeface="Arial"/>
              </a:rPr>
              <a:t>Live kurtosis classifier retunes γ and β every frame, not tuned once offline</a:t>
            </a:r>
          </a:p>
        </p:txBody>
      </p:sp>
      <p:sp>
        <p:nvSpPr>
          <p:cNvPr id="15408" name="Rounded Rectangle 15407"/>
          <p:cNvSpPr/>
          <p:nvPr/>
        </p:nvSpPr>
        <p:spPr>
          <a:xfrm>
            <a:off x="502920" y="4956048"/>
            <a:ext cx="7360920" cy="493776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09" name="TextBox 15408"/>
          <p:cNvSpPr txBox="1"/>
          <p:nvPr/>
        </p:nvSpPr>
        <p:spPr>
          <a:xfrm>
            <a:off x="630936" y="502920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3202A"/>
                </a:solidFill>
                <a:latin typeface="Arial"/>
              </a:rPr>
              <a:t>High speech intelligibility</a:t>
            </a:r>
          </a:p>
        </p:txBody>
      </p:sp>
      <p:sp>
        <p:nvSpPr>
          <p:cNvPr id="15410" name="TextBox 15409"/>
          <p:cNvSpPr txBox="1"/>
          <p:nvPr/>
        </p:nvSpPr>
        <p:spPr>
          <a:xfrm>
            <a:off x="3337560" y="5001768"/>
            <a:ext cx="436168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 i="0">
                <a:solidFill>
                  <a:srgbClr val="4A6572"/>
                </a:solidFill>
                <a:latin typeface="Arial"/>
              </a:rPr>
              <a:t>Voice guard, plus DNSMOS SIG reported separately so over-suppression is visible</a:t>
            </a:r>
          </a:p>
        </p:txBody>
      </p:sp>
      <p:sp>
        <p:nvSpPr>
          <p:cNvPr id="15411" name="Rounded Rectangle 15410"/>
          <p:cNvSpPr/>
          <p:nvPr/>
        </p:nvSpPr>
        <p:spPr>
          <a:xfrm>
            <a:off x="502920" y="5504688"/>
            <a:ext cx="7360920" cy="493776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12" name="TextBox 15411"/>
          <p:cNvSpPr txBox="1"/>
          <p:nvPr/>
        </p:nvSpPr>
        <p:spPr>
          <a:xfrm>
            <a:off x="630936" y="557784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3202A"/>
                </a:solidFill>
                <a:latin typeface="Arial"/>
              </a:rPr>
              <a:t>Real-time on embedded hardware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3337560" y="5550408"/>
            <a:ext cx="436168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 i="0">
                <a:solidFill>
                  <a:srgbClr val="4A6572"/>
                </a:solidFill>
                <a:latin typeface="Arial"/>
              </a:rPr>
              <a:t>23.7 K parameters at 39.6 MMAC/s — a Raspberry Pi 5, not a Jetson</a:t>
            </a:r>
          </a:p>
        </p:txBody>
      </p:sp>
      <p:sp>
        <p:nvSpPr>
          <p:cNvPr id="15414" name="TextBox 15413"/>
          <p:cNvSpPr txBox="1"/>
          <p:nvPr/>
        </p:nvSpPr>
        <p:spPr>
          <a:xfrm>
            <a:off x="8156448" y="1335024"/>
            <a:ext cx="35295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3541E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415" name="Rounded Rectangle 15414"/>
          <p:cNvSpPr/>
          <p:nvPr/>
        </p:nvSpPr>
        <p:spPr>
          <a:xfrm>
            <a:off x="8156448" y="1554480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16" name="Oval 15415"/>
          <p:cNvSpPr/>
          <p:nvPr/>
        </p:nvSpPr>
        <p:spPr>
          <a:xfrm>
            <a:off x="8275320" y="1673352"/>
            <a:ext cx="274320" cy="274320"/>
          </a:xfrm>
          <a:prstGeom prst="ellips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17" name="TextBox 15416"/>
          <p:cNvSpPr txBox="1"/>
          <p:nvPr/>
        </p:nvSpPr>
        <p:spPr>
          <a:xfrm>
            <a:off x="8275320" y="1709928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8631936" y="167335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3202A"/>
                </a:solidFill>
                <a:latin typeface="Arial"/>
              </a:rPr>
              <a:t>Two lanes, not one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8631936" y="1892808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4A6572"/>
                </a:solidFill>
                <a:latin typeface="Arial"/>
              </a:rPr>
              <a:t>Protection needs under a millisecond; transmit tolerates 25 ms. Fusing them makes both impossible.</a:t>
            </a:r>
          </a:p>
        </p:txBody>
      </p:sp>
      <p:sp>
        <p:nvSpPr>
          <p:cNvPr id="15420" name="Rounded Rectangle 15419"/>
          <p:cNvSpPr/>
          <p:nvPr/>
        </p:nvSpPr>
        <p:spPr>
          <a:xfrm>
            <a:off x="8156448" y="2487168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21" name="Oval 15420"/>
          <p:cNvSpPr/>
          <p:nvPr/>
        </p:nvSpPr>
        <p:spPr>
          <a:xfrm>
            <a:off x="8275320" y="2606040"/>
            <a:ext cx="274320" cy="274320"/>
          </a:xfrm>
          <a:prstGeom prst="ellips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22" name="TextBox 15421"/>
          <p:cNvSpPr txBox="1"/>
          <p:nvPr/>
        </p:nvSpPr>
        <p:spPr>
          <a:xfrm>
            <a:off x="8275320" y="2642616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423" name="TextBox 15422"/>
          <p:cNvSpPr txBox="1"/>
          <p:nvPr/>
        </p:nvSpPr>
        <p:spPr>
          <a:xfrm>
            <a:off x="8631936" y="2606040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3202A"/>
                </a:solidFill>
                <a:latin typeface="Arial"/>
              </a:rPr>
              <a:t>Detect, do not predict</a:t>
            </a:r>
          </a:p>
        </p:txBody>
      </p:sp>
      <p:sp>
        <p:nvSpPr>
          <p:cNvPr id="15424" name="TextBox 15423"/>
          <p:cNvSpPr txBox="1"/>
          <p:nvPr/>
        </p:nvSpPr>
        <p:spPr>
          <a:xfrm>
            <a:off x="8631936" y="2825496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4A6572"/>
                </a:solidFill>
                <a:latin typeface="Arial"/>
              </a:rPr>
              <a:t>Published deep ANC buys latency by predicting noise. A gunshot is unpredictable by definition.</a:t>
            </a:r>
          </a:p>
        </p:txBody>
      </p:sp>
      <p:sp>
        <p:nvSpPr>
          <p:cNvPr id="15425" name="Rounded Rectangle 15424"/>
          <p:cNvSpPr/>
          <p:nvPr/>
        </p:nvSpPr>
        <p:spPr>
          <a:xfrm>
            <a:off x="8156448" y="3419856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26" name="Oval 15425"/>
          <p:cNvSpPr/>
          <p:nvPr/>
        </p:nvSpPr>
        <p:spPr>
          <a:xfrm>
            <a:off x="8275320" y="3538728"/>
            <a:ext cx="274320" cy="274320"/>
          </a:xfrm>
          <a:prstGeom prst="ellips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27" name="TextBox 15426"/>
          <p:cNvSpPr txBox="1"/>
          <p:nvPr/>
        </p:nvSpPr>
        <p:spPr>
          <a:xfrm>
            <a:off x="8275320" y="357530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428" name="TextBox 15427"/>
          <p:cNvSpPr txBox="1"/>
          <p:nvPr/>
        </p:nvSpPr>
        <p:spPr>
          <a:xfrm>
            <a:off x="8631936" y="3538728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3202A"/>
                </a:solidFill>
                <a:latin typeface="Arial"/>
              </a:rPr>
              <a:t>Crack before blast</a:t>
            </a:r>
          </a:p>
        </p:txBody>
      </p:sp>
      <p:sp>
        <p:nvSpPr>
          <p:cNvPr id="15429" name="TextBox 15428"/>
          <p:cNvSpPr txBox="1"/>
          <p:nvPr/>
        </p:nvSpPr>
        <p:spPr>
          <a:xfrm>
            <a:off x="8631936" y="3758184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4A6572"/>
                </a:solidFill>
                <a:latin typeface="Arial"/>
              </a:rPr>
              <a:t>The supersonic shockwave arrives 42.3 ms ahead of the muzzle blast. Physical look-ahead, not algorithmic.</a:t>
            </a:r>
          </a:p>
        </p:txBody>
      </p:sp>
      <p:sp>
        <p:nvSpPr>
          <p:cNvPr id="15430" name="Rounded Rectangle 15429"/>
          <p:cNvSpPr/>
          <p:nvPr/>
        </p:nvSpPr>
        <p:spPr>
          <a:xfrm>
            <a:off x="8156448" y="4352544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31" name="Oval 15430"/>
          <p:cNvSpPr/>
          <p:nvPr/>
        </p:nvSpPr>
        <p:spPr>
          <a:xfrm>
            <a:off x="8275320" y="4471416"/>
            <a:ext cx="274320" cy="274320"/>
          </a:xfrm>
          <a:prstGeom prst="ellips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32" name="TextBox 15431"/>
          <p:cNvSpPr txBox="1"/>
          <p:nvPr/>
        </p:nvSpPr>
        <p:spPr>
          <a:xfrm>
            <a:off x="8275320" y="4507992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433" name="TextBox 15432"/>
          <p:cNvSpPr txBox="1"/>
          <p:nvPr/>
        </p:nvSpPr>
        <p:spPr>
          <a:xfrm>
            <a:off x="8631936" y="4471416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3202A"/>
                </a:solidFill>
                <a:latin typeface="Arial"/>
              </a:rPr>
              <a:t>RMS is undefined here</a:t>
            </a:r>
          </a:p>
        </p:txBody>
      </p:sp>
      <p:sp>
        <p:nvSpPr>
          <p:cNvPr id="15434" name="TextBox 15433"/>
          <p:cNvSpPr txBox="1"/>
          <p:nvPr/>
        </p:nvSpPr>
        <p:spPr>
          <a:xfrm>
            <a:off x="8631936" y="4690872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4A6572"/>
                </a:solidFill>
                <a:latin typeface="Arial"/>
              </a:rPr>
              <a:t>Heavy-tailed noise has infinite variance. We scale on percentile and fractional lower-order moments.</a:t>
            </a:r>
          </a:p>
        </p:txBody>
      </p:sp>
      <p:sp>
        <p:nvSpPr>
          <p:cNvPr id="15435" name="Rounded Rectangle 15434"/>
          <p:cNvSpPr/>
          <p:nvPr/>
        </p:nvSpPr>
        <p:spPr>
          <a:xfrm>
            <a:off x="8156448" y="5285232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36" name="Oval 15435"/>
          <p:cNvSpPr/>
          <p:nvPr/>
        </p:nvSpPr>
        <p:spPr>
          <a:xfrm>
            <a:off x="8275320" y="5404104"/>
            <a:ext cx="274320" cy="274320"/>
          </a:xfrm>
          <a:prstGeom prst="ellips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37" name="TextBox 15436"/>
          <p:cNvSpPr txBox="1"/>
          <p:nvPr/>
        </p:nvSpPr>
        <p:spPr>
          <a:xfrm>
            <a:off x="8275320" y="544068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438" name="TextBox 15437"/>
          <p:cNvSpPr txBox="1"/>
          <p:nvPr/>
        </p:nvSpPr>
        <p:spPr>
          <a:xfrm>
            <a:off x="8631936" y="540410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3202A"/>
                </a:solidFill>
                <a:latin typeface="Arial"/>
              </a:rPr>
              <a:t>Measured, not downloaded</a:t>
            </a:r>
          </a:p>
        </p:txBody>
      </p:sp>
      <p:sp>
        <p:nvSpPr>
          <p:cNvPr id="15439" name="TextBox 15438"/>
          <p:cNvSpPr txBox="1"/>
          <p:nvPr/>
        </p:nvSpPr>
        <p:spPr>
          <a:xfrm>
            <a:off x="8631936" y="5623560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4A6572"/>
                </a:solidFill>
                <a:latin typeface="Arial"/>
              </a:rPr>
              <a:t>Calibrated gunshot data, holdout split assigned before capture, checksum-frozen reference.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96012" y="466164"/>
            <a:ext cx="8686800" cy="0"/>
          </a:xfrm>
        </p:spPr>
        <p:txBody>
          <a:bodyPr/>
          <a:lstStyle/>
          <a:p>
            <a:pPr algn="l" eaLnBrk="1" hangingPunct="1"/>
            <a:r>
              <a:rPr lang="en-US" sz="2700" b="1" dirty="0">
                <a:solidFill>
                  <a:srgbClr val="13202A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60704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3541E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C++17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real-time path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1746504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ONNX Runtime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inference on ARM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990088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PyTorch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training, offline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33672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GTCRN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23.7 K params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77256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Aux-IVA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blind separation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720840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BMRI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impulsive path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964424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PFFFT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BSD FFT, not GPL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208008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Raspberry Pi 5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8 GB, the engine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10451592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UMC202HD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2-ch capture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02920" y="1847088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3541E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02920" y="2029968"/>
            <a:ext cx="11155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FA3AD"/>
                </a:solidFill>
                <a:latin typeface="Arial"/>
              </a:rPr>
              <a:t>HARDWARE CHAIN — no development computer in the signal path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02920" y="2157984"/>
            <a:ext cx="201168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4A6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3 microphones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voice · reference · error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2514600" y="2368296"/>
            <a:ext cx="219456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Isosceles Triangle 17423"/>
          <p:cNvSpPr/>
          <p:nvPr/>
        </p:nvSpPr>
        <p:spPr>
          <a:xfrm rot="5400000">
            <a:off x="2683764" y="2318004"/>
            <a:ext cx="100584" cy="100584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ounded Rectangle 17424"/>
          <p:cNvSpPr/>
          <p:nvPr/>
        </p:nvSpPr>
        <p:spPr>
          <a:xfrm>
            <a:off x="2734056" y="2157984"/>
            <a:ext cx="201168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4A6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UMC202HD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24-bit, 48 V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4745736" y="2368296"/>
            <a:ext cx="219456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Isosceles Triangle 17426"/>
          <p:cNvSpPr/>
          <p:nvPr/>
        </p:nvSpPr>
        <p:spPr>
          <a:xfrm rot="5400000">
            <a:off x="4914900" y="2318004"/>
            <a:ext cx="100584" cy="100584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4965192" y="2157984"/>
            <a:ext cx="201168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4A6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Raspberry Pi 5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blocks 1–11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6976872" y="2368296"/>
            <a:ext cx="219456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Isosceles Triangle 17429"/>
          <p:cNvSpPr/>
          <p:nvPr/>
        </p:nvSpPr>
        <p:spPr>
          <a:xfrm rot="5400000">
            <a:off x="7146036" y="2318004"/>
            <a:ext cx="100584" cy="100584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7196328" y="2157984"/>
            <a:ext cx="201168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4A6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Communication unit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MELPe 2400 bps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9208008" y="2368296"/>
            <a:ext cx="219456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Isosceles Triangle 17432"/>
          <p:cNvSpPr/>
          <p:nvPr/>
        </p:nvSpPr>
        <p:spPr>
          <a:xfrm rot="5400000">
            <a:off x="9377172" y="2318004"/>
            <a:ext cx="100584" cy="100584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Rounded Rectangle 17433"/>
          <p:cNvSpPr/>
          <p:nvPr/>
        </p:nvSpPr>
        <p:spPr>
          <a:xfrm>
            <a:off x="9427464" y="2157984"/>
            <a:ext cx="201168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4A6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Earcups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3202A"/>
                </a:solidFill>
                <a:latin typeface="Arial"/>
              </a:rPr>
              <a:t>return audio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02920" y="2706624"/>
            <a:ext cx="11155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FA3AD"/>
                </a:solidFill>
                <a:latin typeface="Arial"/>
              </a:rPr>
              <a:t>LANE B SIGNAL CHAIN — one 20 ms frame, 10 ms hop, 25.3 ms end to end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502920" y="2871216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8FA3AD"/>
                </a:solidFill>
                <a:latin typeface="Arial"/>
              </a:rPr>
              <a:t>01</a:t>
            </a:r>
          </a:p>
          <a:p>
            <a:pPr algn="ctr"/>
            <a:r>
              <a:rPr sz="800" b="1">
                <a:solidFill>
                  <a:srgbClr val="13202A"/>
                </a:solidFill>
                <a:latin typeface="Arial"/>
              </a:rPr>
              <a:t>Audio in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1856232" y="3090672"/>
            <a:ext cx="164592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Isosceles Triangle 17437"/>
          <p:cNvSpPr/>
          <p:nvPr/>
        </p:nvSpPr>
        <p:spPr>
          <a:xfrm rot="5400000">
            <a:off x="1970532" y="3040380"/>
            <a:ext cx="100584" cy="100584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Rounded Rectangle 17438"/>
          <p:cNvSpPr/>
          <p:nvPr/>
        </p:nvSpPr>
        <p:spPr>
          <a:xfrm>
            <a:off x="2020824" y="2871216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8FA3AD"/>
                </a:solidFill>
                <a:latin typeface="Arial"/>
              </a:rPr>
              <a:t>02</a:t>
            </a:r>
          </a:p>
          <a:p>
            <a:pPr algn="ctr"/>
            <a:r>
              <a:rPr sz="800" b="1">
                <a:solidFill>
                  <a:srgbClr val="13202A"/>
                </a:solidFill>
                <a:latin typeface="Arial"/>
              </a:rPr>
              <a:t>Aux-IVA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3374136" y="3090672"/>
            <a:ext cx="164592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Isosceles Triangle 17440"/>
          <p:cNvSpPr/>
          <p:nvPr/>
        </p:nvSpPr>
        <p:spPr>
          <a:xfrm rot="5400000">
            <a:off x="3488436" y="3040380"/>
            <a:ext cx="100584" cy="100584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Rounded Rectangle 17441"/>
          <p:cNvSpPr/>
          <p:nvPr/>
        </p:nvSpPr>
        <p:spPr>
          <a:xfrm>
            <a:off x="3538728" y="2871216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8FA3AD"/>
                </a:solidFill>
                <a:latin typeface="Arial"/>
              </a:rPr>
              <a:t>03</a:t>
            </a:r>
          </a:p>
          <a:p>
            <a:pPr algn="ctr"/>
            <a:r>
              <a:rPr sz="800" b="1">
                <a:solidFill>
                  <a:srgbClr val="13202A"/>
                </a:solidFill>
                <a:latin typeface="Arial"/>
              </a:rPr>
              <a:t>Normalise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4892040" y="3090672"/>
            <a:ext cx="164592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Isosceles Triangle 17443"/>
          <p:cNvSpPr/>
          <p:nvPr/>
        </p:nvSpPr>
        <p:spPr>
          <a:xfrm rot="5400000">
            <a:off x="5006340" y="3040380"/>
            <a:ext cx="100584" cy="100584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Rounded Rectangle 17444"/>
          <p:cNvSpPr/>
          <p:nvPr/>
        </p:nvSpPr>
        <p:spPr>
          <a:xfrm>
            <a:off x="5056632" y="2871216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8FA3AD"/>
                </a:solidFill>
                <a:latin typeface="Arial"/>
              </a:rPr>
              <a:t>04</a:t>
            </a:r>
          </a:p>
          <a:p>
            <a:pPr algn="ctr"/>
            <a:r>
              <a:rPr sz="800" b="1">
                <a:solidFill>
                  <a:srgbClr val="13202A"/>
                </a:solidFill>
                <a:latin typeface="Arial"/>
              </a:rPr>
              <a:t>STFT + ERB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6409944" y="3090672"/>
            <a:ext cx="164592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Isosceles Triangle 17446"/>
          <p:cNvSpPr/>
          <p:nvPr/>
        </p:nvSpPr>
        <p:spPr>
          <a:xfrm rot="5400000">
            <a:off x="6524244" y="3040380"/>
            <a:ext cx="100584" cy="100584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8" name="Diamond 17447"/>
          <p:cNvSpPr/>
          <p:nvPr/>
        </p:nvSpPr>
        <p:spPr>
          <a:xfrm>
            <a:off x="6492240" y="2656332"/>
            <a:ext cx="2194560" cy="868680"/>
          </a:xfrm>
          <a:prstGeom prst="diamond">
            <a:avLst/>
          </a:prstGeom>
          <a:solidFill>
            <a:srgbClr val="F7ECE4"/>
          </a:solidFill>
          <a:ln w="15875">
            <a:solidFill>
              <a:srgbClr val="B3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02A"/>
                </a:solidFill>
                <a:latin typeface="Arial"/>
              </a:rPr>
              <a:t>05  Classifier</a:t>
            </a:r>
          </a:p>
          <a:p>
            <a:pPr algn="ctr"/>
            <a:r>
              <a:rPr sz="650" b="0" i="0">
                <a:solidFill>
                  <a:srgbClr val="13202A"/>
                </a:solidFill>
                <a:latin typeface="Arial"/>
              </a:rPr>
              <a:t>kurtosis → γ, β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8833104" y="2962656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680" b="0" i="0">
                <a:solidFill>
                  <a:srgbClr val="B3541E"/>
                </a:solidFill>
                <a:latin typeface="Arial"/>
              </a:rPr>
              <a:t>the adaptive decision — what makes the system adapt per frame rather than being tuned once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7589520" y="3525012"/>
            <a:ext cx="0" cy="132588"/>
          </a:xfrm>
          <a:prstGeom prst="line">
            <a:avLst/>
          </a:prstGeom>
          <a:ln w="1905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1" name="Connector 17450"/>
          <p:cNvCxnSpPr/>
          <p:nvPr/>
        </p:nvCxnSpPr>
        <p:spPr>
          <a:xfrm flipH="1">
            <a:off x="6263640" y="3657600"/>
            <a:ext cx="1325880" cy="0"/>
          </a:xfrm>
          <a:prstGeom prst="line">
            <a:avLst/>
          </a:prstGeom>
          <a:ln w="1905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2" name="Connector 17451"/>
          <p:cNvCxnSpPr/>
          <p:nvPr/>
        </p:nvCxnSpPr>
        <p:spPr>
          <a:xfrm>
            <a:off x="6263640" y="3657600"/>
            <a:ext cx="0" cy="182880"/>
          </a:xfrm>
          <a:prstGeom prst="line">
            <a:avLst/>
          </a:prstGeom>
          <a:ln w="1905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Isosceles Triangle 17452"/>
          <p:cNvSpPr/>
          <p:nvPr/>
        </p:nvSpPr>
        <p:spPr>
          <a:xfrm rot="10800000">
            <a:off x="6204204" y="3781044"/>
            <a:ext cx="118872" cy="118872"/>
          </a:xfrm>
          <a:prstGeom prst="triangl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54" name="Connector 17453"/>
          <p:cNvCxnSpPr/>
          <p:nvPr/>
        </p:nvCxnSpPr>
        <p:spPr>
          <a:xfrm>
            <a:off x="7589520" y="3657600"/>
            <a:ext cx="1508760" cy="0"/>
          </a:xfrm>
          <a:prstGeom prst="line">
            <a:avLst/>
          </a:prstGeom>
          <a:ln w="19050">
            <a:solidFill>
              <a:srgbClr val="132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5" name="Connector 17454"/>
          <p:cNvCxnSpPr/>
          <p:nvPr/>
        </p:nvCxnSpPr>
        <p:spPr>
          <a:xfrm>
            <a:off x="9098280" y="3657600"/>
            <a:ext cx="0" cy="182880"/>
          </a:xfrm>
          <a:prstGeom prst="line">
            <a:avLst/>
          </a:prstGeom>
          <a:ln w="19050">
            <a:solidFill>
              <a:srgbClr val="132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Isosceles Triangle 17455"/>
          <p:cNvSpPr/>
          <p:nvPr/>
        </p:nvSpPr>
        <p:spPr>
          <a:xfrm rot="10800000">
            <a:off x="9038844" y="3781044"/>
            <a:ext cx="118872" cy="118872"/>
          </a:xfrm>
          <a:prstGeom prst="triangle">
            <a:avLst/>
          </a:prstGeom>
          <a:solidFill>
            <a:srgbClr val="13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TextBox 17456"/>
          <p:cNvSpPr txBox="1"/>
          <p:nvPr/>
        </p:nvSpPr>
        <p:spPr>
          <a:xfrm>
            <a:off x="5257800" y="3465576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B3541E"/>
                </a:solidFill>
                <a:latin typeface="Arial"/>
              </a:rPr>
              <a:t>impulsive frame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8321040" y="3465576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13202A"/>
                </a:solidFill>
                <a:latin typeface="Arial"/>
              </a:rPr>
              <a:t>stationary / non-stationary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5166360" y="38404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7ECE4"/>
          </a:solidFill>
          <a:ln w="12700">
            <a:solidFill>
              <a:srgbClr val="B3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8FA3AD"/>
                </a:solidFill>
                <a:latin typeface="Arial"/>
              </a:rPr>
              <a:t>06</a:t>
            </a:r>
          </a:p>
          <a:p>
            <a:pPr algn="ctr"/>
            <a:r>
              <a:rPr sz="800" b="1">
                <a:solidFill>
                  <a:srgbClr val="13202A"/>
                </a:solidFill>
                <a:latin typeface="Arial"/>
              </a:rPr>
              <a:t>BMRI — detect and interpolate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8001000" y="38404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3202A"/>
          </a:solidFill>
          <a:ln w="12700">
            <a:solidFill>
              <a:srgbClr val="132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07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GTCRN — learned mask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6263640" y="4297680"/>
            <a:ext cx="0" cy="182880"/>
          </a:xfrm>
          <a:prstGeom prst="line">
            <a:avLst/>
          </a:prstGeom>
          <a:ln w="1905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2" name="Connector 17461"/>
          <p:cNvCxnSpPr/>
          <p:nvPr/>
        </p:nvCxnSpPr>
        <p:spPr>
          <a:xfrm flipH="1">
            <a:off x="3968496" y="4480560"/>
            <a:ext cx="2295144" cy="0"/>
          </a:xfrm>
          <a:prstGeom prst="line">
            <a:avLst/>
          </a:prstGeom>
          <a:ln w="1905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3" name="Connector 17462"/>
          <p:cNvCxnSpPr/>
          <p:nvPr/>
        </p:nvCxnSpPr>
        <p:spPr>
          <a:xfrm>
            <a:off x="9098280" y="4297680"/>
            <a:ext cx="0" cy="182880"/>
          </a:xfrm>
          <a:prstGeom prst="line">
            <a:avLst/>
          </a:prstGeom>
          <a:ln w="19050">
            <a:solidFill>
              <a:srgbClr val="132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4" name="Connector 17463"/>
          <p:cNvCxnSpPr/>
          <p:nvPr/>
        </p:nvCxnSpPr>
        <p:spPr>
          <a:xfrm flipH="1">
            <a:off x="3968496" y="4480560"/>
            <a:ext cx="5129784" cy="0"/>
          </a:xfrm>
          <a:prstGeom prst="line">
            <a:avLst/>
          </a:prstGeom>
          <a:ln w="19050">
            <a:solidFill>
              <a:srgbClr val="132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5" name="Connector 17464"/>
          <p:cNvCxnSpPr/>
          <p:nvPr/>
        </p:nvCxnSpPr>
        <p:spPr>
          <a:xfrm>
            <a:off x="3968496" y="4480560"/>
            <a:ext cx="0" cy="18288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6" name="Isosceles Triangle 17465"/>
          <p:cNvSpPr/>
          <p:nvPr/>
        </p:nvSpPr>
        <p:spPr>
          <a:xfrm rot="10800000">
            <a:off x="3909060" y="4604004"/>
            <a:ext cx="118872" cy="118872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7" name="TextBox 17466"/>
          <p:cNvSpPr txBox="1"/>
          <p:nvPr/>
        </p:nvSpPr>
        <p:spPr>
          <a:xfrm>
            <a:off x="4160520" y="4517136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4A6572"/>
                </a:solidFill>
                <a:latin typeface="Arial"/>
              </a:rPr>
              <a:t>recombine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3291840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8FA3AD"/>
                </a:solidFill>
                <a:latin typeface="Arial"/>
              </a:rPr>
              <a:t>08</a:t>
            </a:r>
          </a:p>
          <a:p>
            <a:pPr algn="ctr"/>
            <a:r>
              <a:rPr sz="800" b="1">
                <a:solidFill>
                  <a:srgbClr val="13202A"/>
                </a:solidFill>
                <a:latin typeface="Arial"/>
              </a:rPr>
              <a:t>Deep filter</a:t>
            </a:r>
          </a:p>
        </p:txBody>
      </p:sp>
      <p:cxnSp>
        <p:nvCxnSpPr>
          <p:cNvPr id="17469" name="Connector 17468"/>
          <p:cNvCxnSpPr/>
          <p:nvPr/>
        </p:nvCxnSpPr>
        <p:spPr>
          <a:xfrm>
            <a:off x="4645152" y="4882896"/>
            <a:ext cx="164592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0" name="Isosceles Triangle 17469"/>
          <p:cNvSpPr/>
          <p:nvPr/>
        </p:nvSpPr>
        <p:spPr>
          <a:xfrm rot="5400000">
            <a:off x="4759452" y="4832604"/>
            <a:ext cx="100584" cy="100584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1" name="Rounded Rectangle 17470"/>
          <p:cNvSpPr/>
          <p:nvPr/>
        </p:nvSpPr>
        <p:spPr>
          <a:xfrm>
            <a:off x="4809744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8FA3AD"/>
                </a:solidFill>
                <a:latin typeface="Arial"/>
              </a:rPr>
              <a:t>09</a:t>
            </a:r>
          </a:p>
          <a:p>
            <a:pPr algn="ctr"/>
            <a:r>
              <a:rPr sz="800" b="1">
                <a:solidFill>
                  <a:srgbClr val="13202A"/>
                </a:solidFill>
                <a:latin typeface="Arial"/>
              </a:rPr>
              <a:t>Voice guard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6163056" y="4882896"/>
            <a:ext cx="164592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Isosceles Triangle 17472"/>
          <p:cNvSpPr/>
          <p:nvPr/>
        </p:nvSpPr>
        <p:spPr>
          <a:xfrm rot="5400000">
            <a:off x="6277356" y="4832604"/>
            <a:ext cx="100584" cy="100584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4" name="Rounded Rectangle 17473"/>
          <p:cNvSpPr/>
          <p:nvPr/>
        </p:nvSpPr>
        <p:spPr>
          <a:xfrm>
            <a:off x="6327648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8FA3AD"/>
                </a:solidFill>
                <a:latin typeface="Arial"/>
              </a:rPr>
              <a:t>10</a:t>
            </a:r>
          </a:p>
          <a:p>
            <a:pPr algn="ctr"/>
            <a:r>
              <a:rPr sz="800" b="1">
                <a:solidFill>
                  <a:srgbClr val="13202A"/>
                </a:solidFill>
                <a:latin typeface="Arial"/>
              </a:rPr>
              <a:t>Residual</a:t>
            </a:r>
          </a:p>
        </p:txBody>
      </p:sp>
      <p:cxnSp>
        <p:nvCxnSpPr>
          <p:cNvPr id="17475" name="Connector 17474"/>
          <p:cNvCxnSpPr/>
          <p:nvPr/>
        </p:nvCxnSpPr>
        <p:spPr>
          <a:xfrm>
            <a:off x="7680960" y="4882896"/>
            <a:ext cx="164592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6" name="Isosceles Triangle 17475"/>
          <p:cNvSpPr/>
          <p:nvPr/>
        </p:nvSpPr>
        <p:spPr>
          <a:xfrm rot="5400000">
            <a:off x="7795260" y="4832604"/>
            <a:ext cx="100584" cy="100584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7" name="Rounded Rectangle 17476"/>
          <p:cNvSpPr/>
          <p:nvPr/>
        </p:nvSpPr>
        <p:spPr>
          <a:xfrm>
            <a:off x="7845552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8FA3AD"/>
                </a:solidFill>
                <a:latin typeface="Arial"/>
              </a:rPr>
              <a:t>11</a:t>
            </a:r>
          </a:p>
          <a:p>
            <a:pPr algn="ctr"/>
            <a:r>
              <a:rPr sz="800" b="1">
                <a:solidFill>
                  <a:srgbClr val="13202A"/>
                </a:solidFill>
                <a:latin typeface="Arial"/>
              </a:rPr>
              <a:t>ISTFT</a:t>
            </a:r>
          </a:p>
        </p:txBody>
      </p:sp>
      <p:cxnSp>
        <p:nvCxnSpPr>
          <p:cNvPr id="17478" name="Connector 17477"/>
          <p:cNvCxnSpPr/>
          <p:nvPr/>
        </p:nvCxnSpPr>
        <p:spPr>
          <a:xfrm>
            <a:off x="9198864" y="4882896"/>
            <a:ext cx="164592" cy="0"/>
          </a:xfrm>
          <a:prstGeom prst="line">
            <a:avLst/>
          </a:prstGeom>
          <a:ln w="19050">
            <a:solidFill>
              <a:srgbClr val="4A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9" name="Isosceles Triangle 17478"/>
          <p:cNvSpPr/>
          <p:nvPr/>
        </p:nvSpPr>
        <p:spPr>
          <a:xfrm rot="5400000">
            <a:off x="9313164" y="4832604"/>
            <a:ext cx="100584" cy="100584"/>
          </a:xfrm>
          <a:prstGeom prst="triangl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0" name="Rounded Rectangle 17479"/>
          <p:cNvSpPr/>
          <p:nvPr/>
        </p:nvSpPr>
        <p:spPr>
          <a:xfrm>
            <a:off x="9363456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6F0EC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8FA3AD"/>
                </a:solidFill>
                <a:latin typeface="Arial"/>
              </a:rPr>
              <a:t>→</a:t>
            </a:r>
          </a:p>
          <a:p>
            <a:pPr algn="ctr"/>
            <a:r>
              <a:rPr sz="800" b="1">
                <a:solidFill>
                  <a:srgbClr val="13202A"/>
                </a:solidFill>
                <a:latin typeface="Arial"/>
              </a:rPr>
              <a:t>Radio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502920" y="5230368"/>
            <a:ext cx="11155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FA3AD"/>
                </a:solidFill>
                <a:latin typeface="Arial"/>
              </a:rPr>
              <a:t>OFFLINE PIPELINE — none of this ships; it shapes the weights that do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502920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7F9FA"/>
          </a:solidFill>
          <a:ln w="12700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3202A"/>
                </a:solidFill>
                <a:latin typeface="Arial"/>
              </a:rPr>
              <a:t>Range capture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3202A"/>
                </a:solidFill>
                <a:latin typeface="Arial"/>
              </a:rPr>
              <a:t>96 kHz · calibrated</a:t>
            </a:r>
          </a:p>
        </p:txBody>
      </p:sp>
      <p:cxnSp>
        <p:nvCxnSpPr>
          <p:cNvPr id="17483" name="Connector 17482"/>
          <p:cNvCxnSpPr/>
          <p:nvPr/>
        </p:nvCxnSpPr>
        <p:spPr>
          <a:xfrm>
            <a:off x="1801368" y="5577840"/>
            <a:ext cx="73152" cy="0"/>
          </a:xfrm>
          <a:prstGeom prst="line">
            <a:avLst/>
          </a:prstGeom>
          <a:ln w="15240">
            <a:solidFill>
              <a:srgbClr val="8F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4" name="Isosceles Triangle 17483"/>
          <p:cNvSpPr/>
          <p:nvPr/>
        </p:nvSpPr>
        <p:spPr>
          <a:xfrm rot="5400000">
            <a:off x="1833372" y="5536692"/>
            <a:ext cx="82296" cy="82296"/>
          </a:xfrm>
          <a:prstGeom prst="triangle">
            <a:avLst/>
          </a:prstGeom>
          <a:solidFill>
            <a:srgbClr val="8F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5" name="Rounded Rectangle 17484"/>
          <p:cNvSpPr/>
          <p:nvPr/>
        </p:nvSpPr>
        <p:spPr>
          <a:xfrm>
            <a:off x="1892808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7F9FA"/>
          </a:solidFill>
          <a:ln w="12700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3202A"/>
                </a:solidFill>
                <a:latin typeface="Arial"/>
              </a:rPr>
              <a:t>Measure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3202A"/>
                </a:solidFill>
                <a:latin typeface="Arial"/>
              </a:rPr>
              <a:t>16 quantities</a:t>
            </a:r>
          </a:p>
        </p:txBody>
      </p:sp>
      <p:cxnSp>
        <p:nvCxnSpPr>
          <p:cNvPr id="17486" name="Connector 17485"/>
          <p:cNvCxnSpPr/>
          <p:nvPr/>
        </p:nvCxnSpPr>
        <p:spPr>
          <a:xfrm>
            <a:off x="3191256" y="5577840"/>
            <a:ext cx="73152" cy="0"/>
          </a:xfrm>
          <a:prstGeom prst="line">
            <a:avLst/>
          </a:prstGeom>
          <a:ln w="15240">
            <a:solidFill>
              <a:srgbClr val="8F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7" name="Isosceles Triangle 17486"/>
          <p:cNvSpPr/>
          <p:nvPr/>
        </p:nvSpPr>
        <p:spPr>
          <a:xfrm rot="5400000">
            <a:off x="3223260" y="5536692"/>
            <a:ext cx="82296" cy="82296"/>
          </a:xfrm>
          <a:prstGeom prst="triangle">
            <a:avLst/>
          </a:prstGeom>
          <a:solidFill>
            <a:srgbClr val="8F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8" name="Rounded Rectangle 17487"/>
          <p:cNvSpPr/>
          <p:nvPr/>
        </p:nvSpPr>
        <p:spPr>
          <a:xfrm>
            <a:off x="3282696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7F9FA"/>
          </a:solidFill>
          <a:ln w="12700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3202A"/>
                </a:solidFill>
                <a:latin typeface="Arial"/>
              </a:rPr>
              <a:t>Validate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3202A"/>
                </a:solidFill>
                <a:latin typeface="Arial"/>
              </a:rPr>
              <a:t>against holdout</a:t>
            </a:r>
          </a:p>
        </p:txBody>
      </p:sp>
      <p:cxnSp>
        <p:nvCxnSpPr>
          <p:cNvPr id="17489" name="Connector 17488"/>
          <p:cNvCxnSpPr/>
          <p:nvPr/>
        </p:nvCxnSpPr>
        <p:spPr>
          <a:xfrm>
            <a:off x="4581144" y="5577840"/>
            <a:ext cx="73152" cy="0"/>
          </a:xfrm>
          <a:prstGeom prst="line">
            <a:avLst/>
          </a:prstGeom>
          <a:ln w="15240">
            <a:solidFill>
              <a:srgbClr val="8F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0" name="Isosceles Triangle 17489"/>
          <p:cNvSpPr/>
          <p:nvPr/>
        </p:nvSpPr>
        <p:spPr>
          <a:xfrm rot="5400000">
            <a:off x="4613148" y="5536692"/>
            <a:ext cx="82296" cy="82296"/>
          </a:xfrm>
          <a:prstGeom prst="triangle">
            <a:avLst/>
          </a:prstGeom>
          <a:solidFill>
            <a:srgbClr val="8F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1" name="Rounded Rectangle 17490"/>
          <p:cNvSpPr/>
          <p:nvPr/>
        </p:nvSpPr>
        <p:spPr>
          <a:xfrm>
            <a:off x="4672584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7F9FA"/>
          </a:solidFill>
          <a:ln w="12700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3202A"/>
                </a:solidFill>
                <a:latin typeface="Arial"/>
              </a:rPr>
              <a:t>Mix + augment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3202A"/>
                </a:solidFill>
                <a:latin typeface="Arial"/>
              </a:rPr>
              <a:t>α-stable, clipped</a:t>
            </a:r>
          </a:p>
        </p:txBody>
      </p:sp>
      <p:cxnSp>
        <p:nvCxnSpPr>
          <p:cNvPr id="17492" name="Connector 17491"/>
          <p:cNvCxnSpPr/>
          <p:nvPr/>
        </p:nvCxnSpPr>
        <p:spPr>
          <a:xfrm>
            <a:off x="5971032" y="5577840"/>
            <a:ext cx="73152" cy="0"/>
          </a:xfrm>
          <a:prstGeom prst="line">
            <a:avLst/>
          </a:prstGeom>
          <a:ln w="15240">
            <a:solidFill>
              <a:srgbClr val="8F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3" name="Isosceles Triangle 17492"/>
          <p:cNvSpPr/>
          <p:nvPr/>
        </p:nvSpPr>
        <p:spPr>
          <a:xfrm rot="5400000">
            <a:off x="6003036" y="5536692"/>
            <a:ext cx="82296" cy="82296"/>
          </a:xfrm>
          <a:prstGeom prst="triangle">
            <a:avLst/>
          </a:prstGeom>
          <a:solidFill>
            <a:srgbClr val="8F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4" name="Rounded Rectangle 17493"/>
          <p:cNvSpPr/>
          <p:nvPr/>
        </p:nvSpPr>
        <p:spPr>
          <a:xfrm>
            <a:off x="6062472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7F9FA"/>
          </a:solidFill>
          <a:ln w="12700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3202A"/>
                </a:solidFill>
                <a:latin typeface="Arial"/>
              </a:rPr>
              <a:t>Train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3202A"/>
                </a:solidFill>
                <a:latin typeface="Arial"/>
              </a:rPr>
              <a:t>SI-SNR + L1</a:t>
            </a:r>
          </a:p>
        </p:txBody>
      </p:sp>
      <p:cxnSp>
        <p:nvCxnSpPr>
          <p:cNvPr id="17495" name="Connector 17494"/>
          <p:cNvCxnSpPr/>
          <p:nvPr/>
        </p:nvCxnSpPr>
        <p:spPr>
          <a:xfrm>
            <a:off x="7360920" y="5577840"/>
            <a:ext cx="73152" cy="0"/>
          </a:xfrm>
          <a:prstGeom prst="line">
            <a:avLst/>
          </a:prstGeom>
          <a:ln w="15240">
            <a:solidFill>
              <a:srgbClr val="8F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6" name="Isosceles Triangle 17495"/>
          <p:cNvSpPr/>
          <p:nvPr/>
        </p:nvSpPr>
        <p:spPr>
          <a:xfrm rot="5400000">
            <a:off x="7392924" y="5536692"/>
            <a:ext cx="82296" cy="82296"/>
          </a:xfrm>
          <a:prstGeom prst="triangle">
            <a:avLst/>
          </a:prstGeom>
          <a:solidFill>
            <a:srgbClr val="8F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7" name="Rounded Rectangle 17496"/>
          <p:cNvSpPr/>
          <p:nvPr/>
        </p:nvSpPr>
        <p:spPr>
          <a:xfrm>
            <a:off x="7452360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7F9FA"/>
          </a:solidFill>
          <a:ln w="12700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3202A"/>
                </a:solidFill>
                <a:latin typeface="Arial"/>
              </a:rPr>
              <a:t>Prune + quantise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3202A"/>
                </a:solidFill>
                <a:latin typeface="Arial"/>
              </a:rPr>
              <a:t>structured, INT8</a:t>
            </a:r>
          </a:p>
        </p:txBody>
      </p:sp>
      <p:cxnSp>
        <p:nvCxnSpPr>
          <p:cNvPr id="17498" name="Connector 17497"/>
          <p:cNvCxnSpPr/>
          <p:nvPr/>
        </p:nvCxnSpPr>
        <p:spPr>
          <a:xfrm>
            <a:off x="8750808" y="5577840"/>
            <a:ext cx="73152" cy="0"/>
          </a:xfrm>
          <a:prstGeom prst="line">
            <a:avLst/>
          </a:prstGeom>
          <a:ln w="15240">
            <a:solidFill>
              <a:srgbClr val="8F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9" name="Isosceles Triangle 17498"/>
          <p:cNvSpPr/>
          <p:nvPr/>
        </p:nvSpPr>
        <p:spPr>
          <a:xfrm rot="5400000">
            <a:off x="8782812" y="5536692"/>
            <a:ext cx="82296" cy="82296"/>
          </a:xfrm>
          <a:prstGeom prst="triangle">
            <a:avLst/>
          </a:prstGeom>
          <a:solidFill>
            <a:srgbClr val="8F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0" name="Rounded Rectangle 17499"/>
          <p:cNvSpPr/>
          <p:nvPr/>
        </p:nvSpPr>
        <p:spPr>
          <a:xfrm>
            <a:off x="8842248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7F9FA"/>
          </a:solidFill>
          <a:ln w="12700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3202A"/>
                </a:solidFill>
                <a:latin typeface="Arial"/>
              </a:rPr>
              <a:t>Export ONNX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3202A"/>
                </a:solidFill>
                <a:latin typeface="Arial"/>
              </a:rPr>
              <a:t>the only boundary</a:t>
            </a:r>
          </a:p>
        </p:txBody>
      </p:sp>
      <p:cxnSp>
        <p:nvCxnSpPr>
          <p:cNvPr id="17501" name="Connector 17500"/>
          <p:cNvCxnSpPr/>
          <p:nvPr/>
        </p:nvCxnSpPr>
        <p:spPr>
          <a:xfrm>
            <a:off x="10140696" y="5577840"/>
            <a:ext cx="73152" cy="0"/>
          </a:xfrm>
          <a:prstGeom prst="line">
            <a:avLst/>
          </a:prstGeom>
          <a:ln w="15240">
            <a:solidFill>
              <a:srgbClr val="8F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2" name="Isosceles Triangle 17501"/>
          <p:cNvSpPr/>
          <p:nvPr/>
        </p:nvSpPr>
        <p:spPr>
          <a:xfrm rot="5400000">
            <a:off x="10172700" y="5536692"/>
            <a:ext cx="82296" cy="82296"/>
          </a:xfrm>
          <a:prstGeom prst="triangle">
            <a:avLst/>
          </a:prstGeom>
          <a:solidFill>
            <a:srgbClr val="8F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3" name="Rounded Rectangle 17502"/>
          <p:cNvSpPr/>
          <p:nvPr/>
        </p:nvSpPr>
        <p:spPr>
          <a:xfrm>
            <a:off x="10232136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7F9FA"/>
          </a:solidFill>
          <a:ln w="12700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3202A"/>
                </a:solidFill>
                <a:latin typeface="Arial"/>
              </a:rPr>
              <a:t>C++ engine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3202A"/>
                </a:solidFill>
                <a:latin typeface="Arial"/>
              </a:rPr>
              <a:t>parity-tested</a:t>
            </a:r>
          </a:p>
        </p:txBody>
      </p:sp>
      <p:cxnSp>
        <p:nvCxnSpPr>
          <p:cNvPr id="17504" name="Connector 17503"/>
          <p:cNvCxnSpPr/>
          <p:nvPr/>
        </p:nvCxnSpPr>
        <p:spPr>
          <a:xfrm>
            <a:off x="3364992" y="5779008"/>
            <a:ext cx="0" cy="146304"/>
          </a:xfrm>
          <a:prstGeom prst="line">
            <a:avLst/>
          </a:prstGeom>
          <a:ln w="15875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5" name="Connector 17504"/>
          <p:cNvCxnSpPr/>
          <p:nvPr/>
        </p:nvCxnSpPr>
        <p:spPr>
          <a:xfrm flipH="1">
            <a:off x="1801368" y="5925312"/>
            <a:ext cx="1563624" cy="0"/>
          </a:xfrm>
          <a:prstGeom prst="line">
            <a:avLst/>
          </a:prstGeom>
          <a:ln w="15875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6" name="Connector 17505"/>
          <p:cNvCxnSpPr/>
          <p:nvPr/>
        </p:nvCxnSpPr>
        <p:spPr>
          <a:xfrm flipV="1">
            <a:off x="1801368" y="5779008"/>
            <a:ext cx="0" cy="146304"/>
          </a:xfrm>
          <a:prstGeom prst="line">
            <a:avLst/>
          </a:prstGeom>
          <a:ln w="15875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7" name="Isosceles Triangle 17506"/>
          <p:cNvSpPr/>
          <p:nvPr/>
        </p:nvSpPr>
        <p:spPr>
          <a:xfrm>
            <a:off x="1741932" y="5719572"/>
            <a:ext cx="118872" cy="118872"/>
          </a:xfrm>
          <a:prstGeom prst="triangl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8" name="TextBox 17507"/>
          <p:cNvSpPr txBox="1"/>
          <p:nvPr/>
        </p:nvSpPr>
        <p:spPr>
          <a:xfrm>
            <a:off x="1188720" y="5943600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B3541E"/>
                </a:solidFill>
                <a:latin typeface="Arial"/>
              </a:rPr>
              <a:t>mismatch → retune the generator</a:t>
            </a:r>
          </a:p>
        </p:txBody>
      </p:sp>
      <p:sp>
        <p:nvSpPr>
          <p:cNvPr id="17509" name="TextBox 17508"/>
          <p:cNvSpPr txBox="1"/>
          <p:nvPr/>
        </p:nvSpPr>
        <p:spPr>
          <a:xfrm>
            <a:off x="5669280" y="5925312"/>
            <a:ext cx="5989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13202A"/>
                </a:solidFill>
                <a:latin typeface="Arial"/>
              </a:rPr>
              <a:t>25.3 ms algorithmic  ·  10 ms compute per hop  ·  under 1 ms Lane A  ·  39.6 MMAC/s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7432" y="412376"/>
            <a:ext cx="8686800" cy="0"/>
          </a:xfrm>
        </p:spPr>
        <p:txBody>
          <a:bodyPr/>
          <a:lstStyle/>
          <a:p>
            <a:pPr algn="l" eaLnBrk="1" hangingPunct="1"/>
            <a:r>
              <a:rPr lang="en-US" sz="2700" b="1" dirty="0">
                <a:solidFill>
                  <a:srgbClr val="13202A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78992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3541E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298448"/>
            <a:ext cx="2651760" cy="932688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67512" y="140817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3202A"/>
                </a:solidFill>
                <a:latin typeface="Arial"/>
              </a:rPr>
              <a:t>23.7 K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67512" y="1773936"/>
            <a:ext cx="237744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A6572"/>
                </a:solidFill>
                <a:latin typeface="Arial"/>
              </a:rPr>
              <a:t>model parameters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67512" y="193852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8FA3AD"/>
                </a:solidFill>
                <a:latin typeface="Arial"/>
              </a:rPr>
              <a:t>GTCRN, ICASSP 2024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37560" y="1298448"/>
            <a:ext cx="2651760" cy="932688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3502152" y="140817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3202A"/>
                </a:solidFill>
                <a:latin typeface="Arial"/>
              </a:rPr>
              <a:t>39.6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502152" y="1773936"/>
            <a:ext cx="237744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A6572"/>
                </a:solidFill>
                <a:latin typeface="Arial"/>
              </a:rPr>
              <a:t>MMAC per second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502152" y="193852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8FA3AD"/>
                </a:solidFill>
                <a:latin typeface="Arial"/>
              </a:rPr>
              <a:t>runs below Jetson class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72200" y="1298448"/>
            <a:ext cx="2651760" cy="932688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6336792" y="140817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3202A"/>
                </a:solidFill>
                <a:latin typeface="Arial"/>
              </a:rPr>
              <a:t>2.78 ms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36792" y="1773936"/>
            <a:ext cx="237744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A6572"/>
                </a:solidFill>
                <a:latin typeface="Arial"/>
              </a:rPr>
              <a:t>per 20 ms frame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336792" y="193852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8FA3AD"/>
                </a:solidFill>
                <a:latin typeface="Arial"/>
              </a:rPr>
              <a:t>closest prior work, on CPU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006840" y="1298448"/>
            <a:ext cx="2651760" cy="932688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9171432" y="140817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3202A"/>
                </a:solidFill>
                <a:latin typeface="Arial"/>
              </a:rPr>
              <a:t>~₹12 k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171432" y="1773936"/>
            <a:ext cx="237744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A6572"/>
                </a:solidFill>
                <a:latin typeface="Arial"/>
              </a:rPr>
              <a:t>prototype bill of materials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171432" y="193852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8FA3AD"/>
                </a:solidFill>
                <a:latin typeface="Arial"/>
              </a:rPr>
              <a:t>excluding microphones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02920" y="2359152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40080" y="2423160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3202A"/>
                </a:solidFill>
                <a:latin typeface="Arial"/>
              </a:rPr>
              <a:t>Embedded feasibility is already demonstrated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892040" y="2414016"/>
            <a:ext cx="6629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 i="0">
                <a:solidFill>
                  <a:srgbClr val="4A6572"/>
                </a:solidFill>
                <a:latin typeface="Arial"/>
              </a:rPr>
              <a:t>DeepFilterNet2 runs full-band speech enhancement in real time on a Raspberry Pi 4. Our model is roughly 75× smaller.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02920" y="2880360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640080" y="2944368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3202A"/>
                </a:solidFill>
                <a:latin typeface="Arial"/>
              </a:rPr>
              <a:t>The architecture is assembled from published, reproducible parts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892040" y="2935224"/>
            <a:ext cx="6629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 i="0">
                <a:solidFill>
                  <a:srgbClr val="4A6572"/>
                </a:solidFill>
                <a:latin typeface="Arial"/>
              </a:rPr>
              <a:t>GTCRN, Aux-IVA and BMRI all have public results. We are not inventing a model — the contribution is the data, the validation and the measurement.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502920" y="3401568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640080" y="3465576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3202A"/>
                </a:solidFill>
                <a:latin typeface="Arial"/>
              </a:rPr>
              <a:t>The measurement toolkit already exists and passes its own self-test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892040" y="3456432"/>
            <a:ext cx="6629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 i="0">
                <a:solidFill>
                  <a:srgbClr val="4A6572"/>
                </a:solidFill>
                <a:latin typeface="Arial"/>
              </a:rPr>
              <a:t>21 command-line tools, nine automated quality checks, calibration to absolute pressure, and a checksum-frozen reference.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02920" y="3986784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3541E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035040" y="3986784"/>
            <a:ext cx="5623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3541E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502920" y="4224528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1" i="0">
                <a:solidFill>
                  <a:srgbClr val="13202A"/>
                </a:solidFill>
                <a:latin typeface="Arial"/>
              </a:rPr>
              <a:t>One-shot range access; nothing is repeatable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5577840" y="4325112"/>
            <a:ext cx="310896" cy="0"/>
          </a:xfrm>
          <a:prstGeom prst="line">
            <a:avLst/>
          </a:prstGeom>
          <a:ln w="1778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Isosceles Triangle 17439"/>
          <p:cNvSpPr/>
          <p:nvPr/>
        </p:nvSpPr>
        <p:spPr>
          <a:xfrm rot="5400000">
            <a:off x="5838444" y="4274820"/>
            <a:ext cx="100584" cy="100584"/>
          </a:xfrm>
          <a:prstGeom prst="triangl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6035040" y="4224528"/>
            <a:ext cx="5623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40" b="0" i="0">
                <a:solidFill>
                  <a:srgbClr val="4A6572"/>
                </a:solidFill>
                <a:latin typeface="Arial"/>
              </a:rPr>
              <a:t>GO / NO-GO validation after every three shots. Balloons and firecrackers give an energy-scaling axis with no range at all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502920" y="4590288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1" i="0">
                <a:solidFill>
                  <a:srgbClr val="13202A"/>
                </a:solidFill>
                <a:latin typeface="Arial"/>
              </a:rPr>
              <a:t>The microphone clips on the blast — irreversibly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5577840" y="4690872"/>
            <a:ext cx="310896" cy="0"/>
          </a:xfrm>
          <a:prstGeom prst="line">
            <a:avLst/>
          </a:prstGeom>
          <a:ln w="1778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Isosceles Triangle 17443"/>
          <p:cNvSpPr/>
          <p:nvPr/>
        </p:nvSpPr>
        <p:spPr>
          <a:xfrm rot="5400000">
            <a:off x="5838444" y="4640580"/>
            <a:ext cx="100584" cy="100584"/>
          </a:xfrm>
          <a:prstGeom prst="triangl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6035040" y="4590288"/>
            <a:ext cx="5623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40" b="0" i="0">
                <a:solidFill>
                  <a:srgbClr val="4A6572"/>
                </a:solidFill>
                <a:latin typeface="Arial"/>
              </a:rPr>
              <a:t>Staggered-gain pair 18–24 dB apart, so one channel always survives. Clipping is modelled in training rather than wished away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502920" y="4956048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1" i="0">
                <a:solidFill>
                  <a:srgbClr val="13202A"/>
                </a:solidFill>
                <a:latin typeface="Arial"/>
              </a:rPr>
              <a:t>Pi 5 throttles; latency drifts across a long run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5577840" y="5056632"/>
            <a:ext cx="310896" cy="0"/>
          </a:xfrm>
          <a:prstGeom prst="line">
            <a:avLst/>
          </a:prstGeom>
          <a:ln w="1778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Isosceles Triangle 17447"/>
          <p:cNvSpPr/>
          <p:nvPr/>
        </p:nvSpPr>
        <p:spPr>
          <a:xfrm rot="5400000">
            <a:off x="5838444" y="5006340"/>
            <a:ext cx="100584" cy="100584"/>
          </a:xfrm>
          <a:prstGeom prst="triangl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TextBox 17448"/>
          <p:cNvSpPr txBox="1"/>
          <p:nvPr/>
        </p:nvSpPr>
        <p:spPr>
          <a:xfrm>
            <a:off x="6035040" y="4956048"/>
            <a:ext cx="5623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40" b="0" i="0">
                <a:solidFill>
                  <a:srgbClr val="4A6572"/>
                </a:solidFill>
                <a:latin typeface="Arial"/>
              </a:rPr>
              <a:t>Official active cooler and 27 W supply, both mandatory. Report 99th-percentile frame time, never the mean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502920" y="5321808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1" i="0">
                <a:solidFill>
                  <a:srgbClr val="13202A"/>
                </a:solidFill>
                <a:latin typeface="Arial"/>
              </a:rPr>
              <a:t>PS targets may be unreachable at very low SNR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5577840" y="5422392"/>
            <a:ext cx="310896" cy="0"/>
          </a:xfrm>
          <a:prstGeom prst="line">
            <a:avLst/>
          </a:prstGeom>
          <a:ln w="1778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Isosceles Triangle 17451"/>
          <p:cNvSpPr/>
          <p:nvPr/>
        </p:nvSpPr>
        <p:spPr>
          <a:xfrm rot="5400000">
            <a:off x="5838444" y="5372100"/>
            <a:ext cx="100584" cy="100584"/>
          </a:xfrm>
          <a:prstGeom prst="triangl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TextBox 17452"/>
          <p:cNvSpPr txBox="1"/>
          <p:nvPr/>
        </p:nvSpPr>
        <p:spPr>
          <a:xfrm>
            <a:off x="6035040" y="5321808"/>
            <a:ext cx="5623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40" b="0" i="0">
                <a:solidFill>
                  <a:srgbClr val="4A6572"/>
                </a:solidFill>
                <a:latin typeface="Arial"/>
              </a:rPr>
              <a:t>Report PESQ, STOI and SNR as curves against input SNR and state the crossing point, rather than as a single pass/fail number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502920" y="5687568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1" i="0">
                <a:solidFill>
                  <a:srgbClr val="13202A"/>
                </a:solidFill>
                <a:latin typeface="Arial"/>
              </a:rPr>
              <a:t>α-stable augmentation may simply not help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5577840" y="5788152"/>
            <a:ext cx="310896" cy="0"/>
          </a:xfrm>
          <a:prstGeom prst="line">
            <a:avLst/>
          </a:prstGeom>
          <a:ln w="17780">
            <a:solidFill>
              <a:srgbClr val="B35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Isosceles Triangle 17455"/>
          <p:cNvSpPr/>
          <p:nvPr/>
        </p:nvSpPr>
        <p:spPr>
          <a:xfrm rot="5400000">
            <a:off x="5838444" y="5737860"/>
            <a:ext cx="100584" cy="100584"/>
          </a:xfrm>
          <a:prstGeom prst="triangl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TextBox 17456"/>
          <p:cNvSpPr txBox="1"/>
          <p:nvPr/>
        </p:nvSpPr>
        <p:spPr>
          <a:xfrm>
            <a:off x="6035040" y="5687568"/>
            <a:ext cx="5623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40" b="0" i="0">
                <a:solidFill>
                  <a:srgbClr val="4A6572"/>
                </a:solidFill>
                <a:latin typeface="Arial"/>
              </a:rPr>
              <a:t>A Gaussian-augmented baseline is trained alongside. An honest negative result with an explanation is still a result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" y="439270"/>
            <a:ext cx="8686800" cy="0"/>
          </a:xfrm>
        </p:spPr>
        <p:txBody>
          <a:bodyPr/>
          <a:lstStyle/>
          <a:p>
            <a:pPr algn="l" eaLnBrk="1" hangingPunct="1"/>
            <a:r>
              <a:rPr lang="en-US" sz="2700" b="1" dirty="0">
                <a:solidFill>
                  <a:srgbClr val="13202A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78992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3541E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298448"/>
            <a:ext cx="3602736" cy="1572768"/>
          </a:xfrm>
          <a:prstGeom prst="roundRect">
            <a:avLst>
              <a:gd name="adj" fmla="val 7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704088" y="1481328"/>
            <a:ext cx="310896" cy="310896"/>
          </a:xfrm>
          <a:prstGeom prst="ellipse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1124712" y="1517904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3202A"/>
                </a:solidFill>
                <a:latin typeface="Arial"/>
              </a:rPr>
              <a:t>The soldier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04088" y="1883664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4A6572"/>
                </a:solidFill>
                <a:latin typeface="Arial"/>
              </a:rPr>
              <a:t>Commands are heard through gunfire, and hearing is protected at the same time. MIL-STD-1474 sets the limit at the ear at 140 dB peak; few weapons produce below 150 dB.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79392" y="1298448"/>
            <a:ext cx="3602736" cy="1572768"/>
          </a:xfrm>
          <a:prstGeom prst="roundRect">
            <a:avLst>
              <a:gd name="adj" fmla="val 7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6" name="Oval 17415"/>
          <p:cNvSpPr/>
          <p:nvPr/>
        </p:nvSpPr>
        <p:spPr>
          <a:xfrm>
            <a:off x="4480560" y="1481328"/>
            <a:ext cx="310896" cy="310896"/>
          </a:xfrm>
          <a:prstGeom prst="ellipse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901184" y="1517904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3202A"/>
                </a:solidFill>
                <a:latin typeface="Arial"/>
              </a:rPr>
              <a:t>The unit and its commander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480560" y="1883664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4A6572"/>
                </a:solidFill>
                <a:latin typeface="Arial"/>
              </a:rPr>
              <a:t>Fewer repeated transmissions, fewer misheard orders. The operational cost of a gunshot is measured directly as words lost per shot.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055864" y="1298448"/>
            <a:ext cx="3602736" cy="1572768"/>
          </a:xfrm>
          <a:prstGeom prst="roundRect">
            <a:avLst>
              <a:gd name="adj" fmla="val 7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0" name="Oval 17419"/>
          <p:cNvSpPr/>
          <p:nvPr/>
        </p:nvSpPr>
        <p:spPr>
          <a:xfrm>
            <a:off x="8257032" y="1481328"/>
            <a:ext cx="310896" cy="310896"/>
          </a:xfrm>
          <a:prstGeom prst="ellipse">
            <a:avLst/>
          </a:prstGeom>
          <a:solidFill>
            <a:srgbClr val="13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8677656" y="1517904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3202A"/>
                </a:solidFill>
                <a:latin typeface="Arial"/>
              </a:rPr>
              <a:t>Indian defence industry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257032" y="1883664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4A6572"/>
                </a:solidFill>
                <a:latin typeface="Arial"/>
              </a:rPr>
              <a:t>An indigenous, permissively licensed engine that runs on a ₹12,000 board and feeds a DRDO software-defined radio. No foreign cloud in the loop.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02920" y="3035808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3541E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02920" y="3255264"/>
            <a:ext cx="2724912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667512" y="338328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3541E"/>
                </a:solidFill>
                <a:latin typeface="Arial"/>
              </a:rPr>
              <a:t>Operational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67512" y="3639312"/>
            <a:ext cx="239572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19" b="0" i="0">
                <a:solidFill>
                  <a:srgbClr val="4A6572"/>
                </a:solidFill>
                <a:latin typeface="Arial"/>
              </a:rPr>
              <a:t>Voice survives the noise class the problem statement names first, and the system adapts per frame rather than being tuned once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337560" y="3255264"/>
            <a:ext cx="2724912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3502152" y="338328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3541E"/>
                </a:solidFill>
                <a:latin typeface="Arial"/>
              </a:rPr>
              <a:t>Health and social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502152" y="3639312"/>
            <a:ext cx="239572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19" b="0" i="0">
                <a:solidFill>
                  <a:srgbClr val="4A6572"/>
                </a:solidFill>
                <a:latin typeface="Arial"/>
              </a:rPr>
              <a:t>Impulse noise is the leading cause of service-related hearing loss. Lane A protects the ear before any processing happens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172200" y="3255264"/>
            <a:ext cx="2724912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6336792" y="338328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3541E"/>
                </a:solidFill>
                <a:latin typeface="Arial"/>
              </a:rPr>
              <a:t>Economic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336792" y="3639312"/>
            <a:ext cx="239572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19" b="0" i="0">
                <a:solidFill>
                  <a:srgbClr val="4A6572"/>
                </a:solidFill>
                <a:latin typeface="Arial"/>
              </a:rPr>
              <a:t>A microcontroller-class model instead of a Jetson. Lower unit cost, lower power, longer field endurance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9006840" y="3255264"/>
            <a:ext cx="2724912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8F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9171432" y="338328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3541E"/>
                </a:solidFill>
                <a:latin typeface="Arial"/>
              </a:rPr>
              <a:t>Strategic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171432" y="3639312"/>
            <a:ext cx="239572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19" b="0" i="0">
                <a:solidFill>
                  <a:srgbClr val="4A6572"/>
                </a:solidFill>
                <a:latin typeface="Arial"/>
              </a:rPr>
              <a:t>Indigenous IP, permissive licences, no GPL and no cloud dependency — deployable under Make in India procurement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502920" y="4590288"/>
            <a:ext cx="11155680" cy="0"/>
          </a:xfrm>
          <a:prstGeom prst="line">
            <a:avLst/>
          </a:prstGeom>
          <a:ln w="9525">
            <a:solidFill>
              <a:srgbClr val="8F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TextBox 17436"/>
          <p:cNvSpPr txBox="1"/>
          <p:nvPr/>
        </p:nvSpPr>
        <p:spPr>
          <a:xfrm>
            <a:off x="502920" y="4700016"/>
            <a:ext cx="11155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FA3AD"/>
                </a:solidFill>
                <a:latin typeface="Arial"/>
              </a:rPr>
              <a:t>TARGETS THE SYSTEM IS BUILT AGAINST — reported as curves against input SNR, with the crossing point stated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502920" y="49011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202A"/>
                </a:solidFill>
                <a:latin typeface="Arial"/>
              </a:rPr>
              <a:t>&gt; 15 dB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02920" y="526694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A6572"/>
                </a:solidFill>
                <a:latin typeface="Arial"/>
              </a:rPr>
              <a:t>SNR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2386584" y="49011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202A"/>
                </a:solidFill>
                <a:latin typeface="Arial"/>
              </a:rPr>
              <a:t>&gt; 0.85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2386584" y="526694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A6572"/>
                </a:solidFill>
                <a:latin typeface="Arial"/>
              </a:rPr>
              <a:t>STOI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270248" y="49011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202A"/>
                </a:solidFill>
                <a:latin typeface="Arial"/>
              </a:rPr>
              <a:t>&gt; 2.5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4270248" y="526694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A6572"/>
                </a:solidFill>
                <a:latin typeface="Arial"/>
              </a:rPr>
              <a:t>PESQ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153912" y="49011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202A"/>
                </a:solidFill>
                <a:latin typeface="Arial"/>
              </a:rPr>
              <a:t>&lt; 25.3 ms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153912" y="526694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A6572"/>
                </a:solidFill>
                <a:latin typeface="Arial"/>
              </a:rPr>
              <a:t>latency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037576" y="49011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202A"/>
                </a:solidFill>
                <a:latin typeface="Arial"/>
              </a:rPr>
              <a:t>140 dB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037576" y="526694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A6572"/>
                </a:solidFill>
                <a:latin typeface="Arial"/>
              </a:rPr>
              <a:t>MIL-STD-1474 limit at the ear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9921240" y="49011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202A"/>
                </a:solidFill>
                <a:latin typeface="Arial"/>
              </a:rPr>
              <a:t>watts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9921240" y="526694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A6572"/>
                </a:solidFill>
                <a:latin typeface="Arial"/>
              </a:rPr>
              <a:t>power draw, on the board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502920" y="5742432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4A6572"/>
                </a:solidFill>
                <a:latin typeface="Arial"/>
              </a:rPr>
              <a:t>Wider application — the same engine serves aerospace ground crew, armoured vehicle intercom, mining and heavy industry: any environment where speech must survive impulsive noise.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4008" y="448235"/>
            <a:ext cx="8686800" cy="0"/>
          </a:xfrm>
        </p:spPr>
        <p:txBody>
          <a:bodyPr/>
          <a:lstStyle/>
          <a:p>
            <a:pPr algn="l" eaLnBrk="1" hangingPunct="1"/>
            <a:r>
              <a:rPr lang="en-US" sz="2700" b="1" dirty="0">
                <a:solidFill>
                  <a:srgbClr val="13202A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78992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3541E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298448"/>
            <a:ext cx="2724912" cy="2395728"/>
          </a:xfrm>
          <a:prstGeom prst="roundRect">
            <a:avLst>
              <a:gd name="adj" fmla="val 7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49224" y="14081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3541E"/>
                </a:solidFill>
                <a:latin typeface="Arial"/>
              </a:rPr>
              <a:t>Foundations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49224" y="1664208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Widrow et al. — Adaptive Noise Cancelling, Proc. IEEE 63(12), 1975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9224" y="2066544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Varga &amp; Steeneken — NOISEX-92, Speech Communication 12(3), 1993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9224" y="2468880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Shao &amp; Nikias — Fractional lower-order moments, 1993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9224" y="287121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Wang &amp; Chen — Supervised Speech Separation, IEEE/ACM TASLP, 2018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337560" y="1298448"/>
            <a:ext cx="2724912" cy="2395728"/>
          </a:xfrm>
          <a:prstGeom prst="roundRect">
            <a:avLst>
              <a:gd name="adj" fmla="val 7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3483864" y="14081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3541E"/>
                </a:solidFill>
                <a:latin typeface="Arial"/>
              </a:rPr>
              <a:t>Learned enhancement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483864" y="1664208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DCCRN — complex-domain enhancement, arXiv:2008.00264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483864" y="2066544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FullSubNet — full-band + sub-band fusion, arXiv:2010.15508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483864" y="2468880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DeepFilterNet2 — real time on a Raspberry Pi 4, IWAENC 2022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483864" y="287121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Rong et al. — GTCRN, ICASSP 2024 · 23.7 K params, 39.6 MMAC/s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483864" y="3273552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H-GTCRN — Aux-IVA + GTCRN hybrid, dual channel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72200" y="1298448"/>
            <a:ext cx="2724912" cy="2395728"/>
          </a:xfrm>
          <a:prstGeom prst="roundRect">
            <a:avLst>
              <a:gd name="adj" fmla="val 7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6318504" y="14081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3541E"/>
                </a:solidFill>
                <a:latin typeface="Arial"/>
              </a:rPr>
              <a:t>Impulsive noise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318504" y="1664208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Ruhland et al. — Binary Mask Residual Interpolation, TASLP 23(10), 2015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318504" y="2066544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Yuan, Li &amp; Kuruoğlu — α-stable training noise, arXiv, 2023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318504" y="2468880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Berger et al. — IS³ impulsive–stationary separation, WASPAA 2025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318504" y="287121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Ono — Auxiliary-function IVA, WASPAA 2011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006840" y="1298448"/>
            <a:ext cx="2724912" cy="2395728"/>
          </a:xfrm>
          <a:prstGeom prst="roundRect">
            <a:avLst>
              <a:gd name="adj" fmla="val 7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9153144" y="14081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3541E"/>
                </a:solidFill>
                <a:latin typeface="Arial"/>
              </a:rPr>
              <a:t>Baselines and metrics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9153144" y="1664208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Zhang &amp; Wang — Deep ANC, Neural Networks, 2021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153144" y="2066544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Tan, Zhang &amp; Wang — dual-microphone DC-CRN, IEEE/ACM TASLP, 2021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9153144" y="2468880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Le Roux et al. — SDR: half-baked or well done?, ICASSP 2019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153144" y="287121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Reddy et al. — DNSMOS P.835, ICASSP 2022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153144" y="3273552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MIL-STD-1474 · ANSI/ASA S3.2 · JSS 55555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502920" y="3858768"/>
            <a:ext cx="11155680" cy="0"/>
          </a:xfrm>
          <a:prstGeom prst="line">
            <a:avLst/>
          </a:prstGeom>
          <a:ln w="9525">
            <a:solidFill>
              <a:srgbClr val="8F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TextBox 17437"/>
          <p:cNvSpPr txBox="1"/>
          <p:nvPr/>
        </p:nvSpPr>
        <p:spPr>
          <a:xfrm>
            <a:off x="502920" y="3968496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FA3AD"/>
                </a:solidFill>
                <a:latin typeface="Arial"/>
              </a:rPr>
              <a:t>WHERE THE PUBLISHED WORK STOPS — the gaps this project is built on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502920" y="4187952"/>
            <a:ext cx="2724912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B3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649224" y="429768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 b="1" i="0">
                <a:solidFill>
                  <a:srgbClr val="13202A"/>
                </a:solidFill>
                <a:latin typeface="Arial"/>
              </a:rPr>
              <a:t>No impulsive noise in deep ANC at all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49224" y="470001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Every result table uses engine, factory, babble and speech-shaped noise. The foundational paper does not address the noise class DRDO names first.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337560" y="4187952"/>
            <a:ext cx="2724912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B3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3" name="TextBox 17442"/>
          <p:cNvSpPr txBox="1"/>
          <p:nvPr/>
        </p:nvSpPr>
        <p:spPr>
          <a:xfrm>
            <a:off x="3483864" y="429768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 b="1" i="0">
                <a:solidFill>
                  <a:srgbClr val="13202A"/>
                </a:solidFill>
                <a:latin typeface="Arial"/>
              </a:rPr>
              <a:t>Latency is bought back by prediction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3483864" y="470001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1.5–1.7 dB lost per 10 ms — on periodic noise. On a gunshot, prediction has nothing to work with. Nobody has measured the collapse.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172200" y="4187952"/>
            <a:ext cx="2724912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B3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6318504" y="429768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 b="1" i="0">
                <a:solidFill>
                  <a:srgbClr val="13202A"/>
                </a:solidFill>
                <a:latin typeface="Arial"/>
              </a:rPr>
              <a:t>RMS normalisation is formally invalid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318504" y="470001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For heavy-tailed noise the variance is infinite. The closest prior system normalises by RMS; the fix is cited inside another paper we hold.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9006840" y="4187952"/>
            <a:ext cx="2724912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B3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9" name="TextBox 17448"/>
          <p:cNvSpPr txBox="1"/>
          <p:nvPr/>
        </p:nvSpPr>
        <p:spPr>
          <a:xfrm>
            <a:off x="9153144" y="429768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 b="1" i="0">
                <a:solidFill>
                  <a:srgbClr val="13202A"/>
                </a:solidFill>
                <a:latin typeface="Arial"/>
              </a:rPr>
              <a:t>Microphone-side clipping is modelled by nobody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9153144" y="470001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4A6572"/>
                </a:solidFill>
                <a:latin typeface="Arial"/>
              </a:rPr>
              <a:t>Loudspeaker saturation is modelled carefully. A 140 dB blast destroys the waveform at the capsule, before any algorithm sees it.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02920" y="5541264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40" b="0" i="0">
                <a:solidFill>
                  <a:srgbClr val="4A6572"/>
                </a:solidFill>
                <a:latin typeface="Arial"/>
              </a:rPr>
              <a:t>Full technical account, interactive 3-D prototype model and the design review are maintained alongside this submission. Sixteen sources read end to end; five of them put code on the device — Widrow, Shao &amp; Nikias, BMRI, GTCRN and H-GTCRN. Everything else is method, baseline or evidence.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7549</TotalTime>
  <Words>1727</Words>
  <Application>Microsoft Office PowerPoint</Application>
  <PresentationFormat>Widescreen</PresentationFormat>
  <Paragraphs>254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ZEIT — Two-Lane Impulse-Adaptive Noise Cancellation 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Sarthak Tyagi</cp:lastModifiedBy>
  <cp:revision>150</cp:revision>
  <dcterms:created xsi:type="dcterms:W3CDTF">2013-12-12T18:46:50Z</dcterms:created>
  <dcterms:modified xsi:type="dcterms:W3CDTF">2026-09-07T05:43:40Z</dcterms:modified>
  <cp:category/>
</cp:coreProperties>
</file>